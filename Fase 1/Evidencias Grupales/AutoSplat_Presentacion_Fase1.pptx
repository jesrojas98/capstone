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3083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321040" y="0"/>
            <a:ext cx="3867912" cy="6858000"/>
          </a:xfrm>
          <a:prstGeom prst="rect">
            <a:avLst/>
          </a:prstGeom>
          <a:solidFill>
            <a:srgbClr val="141A47"/>
          </a:solidFill>
          <a:ln/>
        </p:spPr>
        <p:txBody>
          <a:bodyPr/>
          <a:lstStyle/>
          <a:p>
            <a:endParaRPr lang="es-CL"/>
          </a:p>
        </p:txBody>
      </p:sp>
      <p:sp>
        <p:nvSpPr>
          <p:cNvPr id="3" name="Shape 1"/>
          <p:cNvSpPr/>
          <p:nvPr/>
        </p:nvSpPr>
        <p:spPr>
          <a:xfrm>
            <a:off x="9418320" y="-1280160"/>
            <a:ext cx="4754880" cy="4754880"/>
          </a:xfrm>
          <a:prstGeom prst="ellipse">
            <a:avLst/>
          </a:prstGeom>
          <a:solidFill>
            <a:srgbClr val="232C6E"/>
          </a:solidFill>
          <a:ln/>
        </p:spPr>
        <p:txBody>
          <a:bodyPr/>
          <a:lstStyle/>
          <a:p>
            <a:endParaRPr lang="es-CL"/>
          </a:p>
        </p:txBody>
      </p:sp>
      <p:sp>
        <p:nvSpPr>
          <p:cNvPr id="4" name="Shape 2"/>
          <p:cNvSpPr/>
          <p:nvPr/>
        </p:nvSpPr>
        <p:spPr>
          <a:xfrm>
            <a:off x="10607040" y="3291840"/>
            <a:ext cx="3291840" cy="3291840"/>
          </a:xfrm>
          <a:prstGeom prst="ellipse">
            <a:avLst/>
          </a:prstGeom>
          <a:solidFill>
            <a:srgbClr val="2A3480"/>
          </a:solidFill>
          <a:ln/>
        </p:spPr>
        <p:txBody>
          <a:bodyPr/>
          <a:lstStyle/>
          <a:p>
            <a:endParaRPr lang="es-CL"/>
          </a:p>
        </p:txBody>
      </p:sp>
      <p:sp>
        <p:nvSpPr>
          <p:cNvPr id="5" name="Shape 3"/>
          <p:cNvSpPr/>
          <p:nvPr/>
        </p:nvSpPr>
        <p:spPr>
          <a:xfrm>
            <a:off x="9555480" y="1280160"/>
            <a:ext cx="1371600" cy="1371600"/>
          </a:xfrm>
          <a:prstGeom prst="ellipse">
            <a:avLst/>
          </a:prstGeom>
          <a:solidFill>
            <a:srgbClr val="2E3878"/>
          </a:solidFill>
          <a:ln/>
        </p:spPr>
        <p:txBody>
          <a:bodyPr/>
          <a:lstStyle/>
          <a:p>
            <a:endParaRPr lang="es-CL"/>
          </a:p>
        </p:txBody>
      </p:sp>
      <p:pic>
        <p:nvPicPr>
          <p:cNvPr id="6" name="Image 0" descr="ic_cubes.png"/>
          <p:cNvPicPr>
            <a:picLocks noChangeAspect="1"/>
          </p:cNvPicPr>
          <p:nvPr/>
        </p:nvPicPr>
        <p:blipFill>
          <a:blip r:embed="rId3"/>
          <a:stretch>
            <a:fillRect/>
          </a:stretch>
        </p:blipFill>
        <p:spPr>
          <a:xfrm>
            <a:off x="9939528" y="1664208"/>
            <a:ext cx="603504" cy="603504"/>
          </a:xfrm>
          <a:prstGeom prst="rect">
            <a:avLst/>
          </a:prstGeom>
        </p:spPr>
      </p:pic>
      <p:sp>
        <p:nvSpPr>
          <p:cNvPr id="7" name="Text 4"/>
          <p:cNvSpPr txBox="1"/>
          <p:nvPr/>
        </p:nvSpPr>
        <p:spPr>
          <a:xfrm>
            <a:off x="640080" y="2331720"/>
            <a:ext cx="7315200" cy="914400"/>
          </a:xfrm>
          <a:prstGeom prst="rect">
            <a:avLst/>
          </a:prstGeom>
          <a:noFill/>
          <a:ln/>
        </p:spPr>
        <p:txBody>
          <a:bodyPr wrap="square" lIns="0" tIns="0" rIns="0" bIns="0" rtlCol="0" anchor="ctr"/>
          <a:lstStyle/>
          <a:p>
            <a:pPr marL="0" indent="0">
              <a:buNone/>
            </a:pPr>
            <a:r>
              <a:rPr lang="en-US" sz="5400" b="1" kern="0" spc="100" dirty="0">
                <a:solidFill>
                  <a:srgbClr val="FFFFFF"/>
                </a:solidFill>
                <a:latin typeface="Cambria" pitchFamily="34" charset="0"/>
                <a:ea typeface="Cambria" pitchFamily="34" charset="-122"/>
                <a:cs typeface="Cambria" pitchFamily="34" charset="-120"/>
              </a:rPr>
              <a:t>AUTOSPLAT</a:t>
            </a:r>
            <a:endParaRPr lang="en-US" sz="5400" dirty="0"/>
          </a:p>
        </p:txBody>
      </p:sp>
      <p:sp>
        <p:nvSpPr>
          <p:cNvPr id="8" name="Shape 5"/>
          <p:cNvSpPr/>
          <p:nvPr/>
        </p:nvSpPr>
        <p:spPr>
          <a:xfrm>
            <a:off x="667512" y="3310128"/>
            <a:ext cx="1371600" cy="54864"/>
          </a:xfrm>
          <a:prstGeom prst="rect">
            <a:avLst/>
          </a:prstGeom>
          <a:solidFill>
            <a:srgbClr val="FF8A3D"/>
          </a:solidFill>
          <a:ln/>
        </p:spPr>
        <p:txBody>
          <a:bodyPr/>
          <a:lstStyle/>
          <a:p>
            <a:endParaRPr lang="es-CL"/>
          </a:p>
        </p:txBody>
      </p:sp>
      <p:sp>
        <p:nvSpPr>
          <p:cNvPr id="9" name="Text 6"/>
          <p:cNvSpPr txBox="1"/>
          <p:nvPr/>
        </p:nvSpPr>
        <p:spPr>
          <a:xfrm>
            <a:off x="640080" y="3493008"/>
            <a:ext cx="6949440" cy="640080"/>
          </a:xfrm>
          <a:prstGeom prst="rect">
            <a:avLst/>
          </a:prstGeom>
          <a:noFill/>
          <a:ln/>
        </p:spPr>
        <p:txBody>
          <a:bodyPr wrap="square" lIns="0" tIns="0" rIns="0" bIns="0" rtlCol="0" anchor="ctr"/>
          <a:lstStyle/>
          <a:p>
            <a:pPr marL="0" indent="0">
              <a:buNone/>
            </a:pPr>
            <a:r>
              <a:rPr lang="en-US" sz="1650" i="1" dirty="0">
                <a:solidFill>
                  <a:srgbClr val="CADCFC"/>
                </a:solidFill>
                <a:latin typeface="Calibri" pitchFamily="34" charset="0"/>
                <a:ea typeface="Calibri" pitchFamily="34" charset="-122"/>
                <a:cs typeface="Calibri" pitchFamily="34" charset="-120"/>
              </a:rPr>
              <a:t>Marketplace de vehículos usados con visualización 3D mediante Gaussian Splatting</a:t>
            </a:r>
            <a:endParaRPr lang="en-US" sz="1650" dirty="0"/>
          </a:p>
        </p:txBody>
      </p:sp>
      <p:sp>
        <p:nvSpPr>
          <p:cNvPr id="10" name="Text 7"/>
          <p:cNvSpPr txBox="1"/>
          <p:nvPr/>
        </p:nvSpPr>
        <p:spPr>
          <a:xfrm>
            <a:off x="640080" y="1417320"/>
            <a:ext cx="6400800" cy="365760"/>
          </a:xfrm>
          <a:prstGeom prst="rect">
            <a:avLst/>
          </a:prstGeom>
          <a:noFill/>
          <a:ln/>
        </p:spPr>
        <p:txBody>
          <a:bodyPr wrap="square" lIns="0" tIns="0" rIns="0" bIns="0" rtlCol="0" anchor="ctr"/>
          <a:lstStyle/>
          <a:p>
            <a:pPr marL="0" indent="0">
              <a:buNone/>
            </a:pPr>
            <a:r>
              <a:rPr lang="en-US" sz="1300" b="1" kern="0" spc="250" dirty="0">
                <a:solidFill>
                  <a:srgbClr val="FF8A3D"/>
                </a:solidFill>
                <a:latin typeface="Calibri" pitchFamily="34" charset="0"/>
                <a:ea typeface="Calibri" pitchFamily="34" charset="-122"/>
                <a:cs typeface="Calibri" pitchFamily="34" charset="-120"/>
              </a:rPr>
              <a:t>DEFINICIÓN DE PROYECTO APT · FASE 1</a:t>
            </a:r>
            <a:endParaRPr lang="en-US" sz="1300" dirty="0"/>
          </a:p>
        </p:txBody>
      </p:sp>
      <p:sp>
        <p:nvSpPr>
          <p:cNvPr id="11" name="Text 8"/>
          <p:cNvSpPr txBox="1"/>
          <p:nvPr/>
        </p:nvSpPr>
        <p:spPr>
          <a:xfrm>
            <a:off x="640080" y="4892040"/>
            <a:ext cx="7223760" cy="292608"/>
          </a:xfrm>
          <a:prstGeom prst="rect">
            <a:avLst/>
          </a:prstGeom>
          <a:noFill/>
          <a:ln/>
        </p:spPr>
        <p:txBody>
          <a:bodyPr wrap="square" lIns="0" tIns="0" rIns="0" bIns="0" rtlCol="0" anchor="ctr"/>
          <a:lstStyle/>
          <a:p>
            <a:pPr marL="0" indent="0">
              <a:buNone/>
            </a:pPr>
            <a:r>
              <a:rPr lang="en-US" sz="1250" b="1" dirty="0">
                <a:solidFill>
                  <a:srgbClr val="CADCFC"/>
                </a:solidFill>
                <a:latin typeface="Calibri" pitchFamily="34" charset="0"/>
                <a:ea typeface="Calibri" pitchFamily="34" charset="-122"/>
                <a:cs typeface="Calibri" pitchFamily="34" charset="-120"/>
              </a:rPr>
              <a:t>Equipo:  </a:t>
            </a:r>
            <a:r>
              <a:rPr lang="en-US" sz="1250" dirty="0">
                <a:solidFill>
                  <a:srgbClr val="FFFFFF"/>
                </a:solidFill>
                <a:latin typeface="Calibri" pitchFamily="34" charset="0"/>
                <a:ea typeface="Calibri" pitchFamily="34" charset="-122"/>
                <a:cs typeface="Calibri" pitchFamily="34" charset="-120"/>
              </a:rPr>
              <a:t>Jesús Rojas Gutiérrez · Lorna Zúñiga Aguilera · Aldo Espinoza Daza</a:t>
            </a:r>
            <a:endParaRPr lang="en-US" sz="1250" dirty="0"/>
          </a:p>
        </p:txBody>
      </p:sp>
      <p:sp>
        <p:nvSpPr>
          <p:cNvPr id="12" name="Text 9"/>
          <p:cNvSpPr txBox="1"/>
          <p:nvPr/>
        </p:nvSpPr>
        <p:spPr>
          <a:xfrm>
            <a:off x="640080" y="5221224"/>
            <a:ext cx="7223760" cy="292608"/>
          </a:xfrm>
          <a:prstGeom prst="rect">
            <a:avLst/>
          </a:prstGeom>
          <a:noFill/>
          <a:ln/>
        </p:spPr>
        <p:txBody>
          <a:bodyPr wrap="square" lIns="0" tIns="0" rIns="0" bIns="0" rtlCol="0" anchor="ctr"/>
          <a:lstStyle/>
          <a:p>
            <a:pPr marL="0" indent="0">
              <a:buNone/>
            </a:pPr>
            <a:r>
              <a:rPr lang="en-US" sz="1250" b="1" dirty="0">
                <a:solidFill>
                  <a:srgbClr val="CADCFC"/>
                </a:solidFill>
                <a:latin typeface="Calibri" pitchFamily="34" charset="0"/>
                <a:ea typeface="Calibri" pitchFamily="34" charset="-122"/>
                <a:cs typeface="Calibri" pitchFamily="34" charset="-120"/>
              </a:rPr>
              <a:t>Asignatura:  </a:t>
            </a:r>
            <a:r>
              <a:rPr lang="en-US" sz="1250" dirty="0">
                <a:solidFill>
                  <a:srgbClr val="FFFFFF"/>
                </a:solidFill>
                <a:latin typeface="Calibri" pitchFamily="34" charset="0"/>
                <a:ea typeface="Calibri" pitchFamily="34" charset="-122"/>
                <a:cs typeface="Calibri" pitchFamily="34" charset="-120"/>
              </a:rPr>
              <a:t>PT4614 Capstone — Sección 005D</a:t>
            </a:r>
            <a:endParaRPr lang="en-US" sz="1250" dirty="0"/>
          </a:p>
        </p:txBody>
      </p:sp>
      <p:sp>
        <p:nvSpPr>
          <p:cNvPr id="13" name="Text 10"/>
          <p:cNvSpPr txBox="1"/>
          <p:nvPr/>
        </p:nvSpPr>
        <p:spPr>
          <a:xfrm>
            <a:off x="640080" y="5550408"/>
            <a:ext cx="7223760" cy="292608"/>
          </a:xfrm>
          <a:prstGeom prst="rect">
            <a:avLst/>
          </a:prstGeom>
          <a:noFill/>
          <a:ln/>
        </p:spPr>
        <p:txBody>
          <a:bodyPr wrap="square" lIns="0" tIns="0" rIns="0" bIns="0" rtlCol="0" anchor="ctr"/>
          <a:lstStyle/>
          <a:p>
            <a:pPr marL="0" indent="0">
              <a:buNone/>
            </a:pPr>
            <a:r>
              <a:rPr lang="en-US" sz="1250" b="1" dirty="0">
                <a:solidFill>
                  <a:srgbClr val="CADCFC"/>
                </a:solidFill>
                <a:latin typeface="Calibri" pitchFamily="34" charset="0"/>
                <a:ea typeface="Calibri" pitchFamily="34" charset="-122"/>
                <a:cs typeface="Calibri" pitchFamily="34" charset="-120"/>
              </a:rPr>
              <a:t>Docente guía:  </a:t>
            </a:r>
            <a:r>
              <a:rPr lang="en-US" sz="1250" dirty="0">
                <a:solidFill>
                  <a:srgbClr val="FFFFFF"/>
                </a:solidFill>
                <a:latin typeface="Calibri" pitchFamily="34" charset="0"/>
                <a:ea typeface="Calibri" pitchFamily="34" charset="-122"/>
                <a:cs typeface="Calibri" pitchFamily="34" charset="-120"/>
              </a:rPr>
              <a:t>Luís Bravo</a:t>
            </a:r>
            <a:r>
              <a:rPr lang="en-US" sz="1250" b="1" dirty="0">
                <a:solidFill>
                  <a:srgbClr val="CADCFC"/>
                </a:solidFill>
                <a:latin typeface="Calibri" pitchFamily="34" charset="0"/>
                <a:ea typeface="Calibri" pitchFamily="34" charset="-122"/>
                <a:cs typeface="Calibri" pitchFamily="34" charset="-120"/>
              </a:rPr>
              <a:t>      Fecha:  </a:t>
            </a:r>
            <a:r>
              <a:rPr lang="en-US" sz="1250" b="1" dirty="0">
                <a:solidFill>
                  <a:srgbClr val="FFFFFF"/>
                </a:solidFill>
                <a:latin typeface="Calibri" pitchFamily="34" charset="0"/>
                <a:ea typeface="Calibri" pitchFamily="34" charset="-122"/>
                <a:cs typeface="Calibri" pitchFamily="34" charset="-120"/>
              </a:rPr>
              <a:t>11</a:t>
            </a:r>
            <a:r>
              <a:rPr lang="en-US" sz="1250" dirty="0">
                <a:solidFill>
                  <a:srgbClr val="FFFFFF"/>
                </a:solidFill>
                <a:latin typeface="Calibri" pitchFamily="34" charset="0"/>
                <a:ea typeface="Calibri" pitchFamily="34" charset="-122"/>
                <a:cs typeface="Calibri" pitchFamily="34" charset="-120"/>
              </a:rPr>
              <a:t> de septiembre de 2026</a:t>
            </a:r>
            <a:endParaRPr lang="en-US" sz="1250" dirty="0"/>
          </a:p>
        </p:txBody>
      </p:sp>
      <p:sp>
        <p:nvSpPr>
          <p:cNvPr id="14" name="Text 11"/>
          <p:cNvSpPr txBox="1"/>
          <p:nvPr/>
        </p:nvSpPr>
        <p:spPr>
          <a:xfrm>
            <a:off x="640080" y="6291072"/>
            <a:ext cx="7315200" cy="274320"/>
          </a:xfrm>
          <a:prstGeom prst="rect">
            <a:avLst/>
          </a:prstGeom>
          <a:noFill/>
          <a:ln/>
        </p:spPr>
        <p:txBody>
          <a:bodyPr wrap="square" lIns="0" tIns="0" rIns="0" bIns="0" rtlCol="0" anchor="ctr"/>
          <a:lstStyle/>
          <a:p>
            <a:pPr marL="0" indent="0">
              <a:buNone/>
            </a:pPr>
            <a:r>
              <a:rPr lang="en-US" sz="1000" dirty="0">
                <a:solidFill>
                  <a:srgbClr val="8891B0"/>
                </a:solidFill>
                <a:latin typeface="Calibri" pitchFamily="34" charset="0"/>
                <a:ea typeface="Calibri" pitchFamily="34" charset="-122"/>
                <a:cs typeface="Calibri" pitchFamily="34" charset="-120"/>
              </a:rPr>
              <a:t>DUOC UC · Escuela de Informática y Telecomunicaciones · Sede Plaza Oeste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lgn="l">
              <a:buNone/>
            </a:pPr>
            <a:r>
              <a:rPr lang="en-US" sz="1250" b="1" kern="0" spc="200" dirty="0">
                <a:solidFill>
                  <a:srgbClr val="FF8A3D"/>
                </a:solidFill>
                <a:latin typeface="Calibri" pitchFamily="34" charset="0"/>
                <a:ea typeface="Calibri" pitchFamily="34" charset="-122"/>
                <a:cs typeface="Calibri" pitchFamily="34" charset="-120"/>
              </a:rPr>
              <a:t>RESUMEN EJECUTIVO</a:t>
            </a:r>
            <a:endParaRPr lang="en-US" sz="1250" dirty="0"/>
          </a:p>
        </p:txBody>
      </p:sp>
      <p:sp>
        <p:nvSpPr>
          <p:cNvPr id="3" name="Text 1"/>
          <p:cNvSpPr txBox="1"/>
          <p:nvPr/>
        </p:nvSpPr>
        <p:spPr>
          <a:xfrm>
            <a:off x="548640" y="658368"/>
            <a:ext cx="10607040" cy="77724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El problema, la solución y el estado del proyecto</a:t>
            </a:r>
            <a:endParaRPr lang="en-US" sz="3200" dirty="0"/>
          </a:p>
        </p:txBody>
      </p:sp>
      <p:sp>
        <p:nvSpPr>
          <p:cNvPr id="4" name="Shape 2"/>
          <p:cNvSpPr/>
          <p:nvPr/>
        </p:nvSpPr>
        <p:spPr>
          <a:xfrm>
            <a:off x="548640" y="1965960"/>
            <a:ext cx="3456432" cy="3246120"/>
          </a:xfrm>
          <a:prstGeom prst="roundRect">
            <a:avLst>
              <a:gd name="adj" fmla="val 3380"/>
            </a:avLst>
          </a:prstGeom>
          <a:solidFill>
            <a:srgbClr val="E9F0FD"/>
          </a:solidFill>
          <a:ln/>
          <a:effectLst>
            <a:outerShdw blurRad="101600" dist="38100" dir="5400000" algn="bl" rotWithShape="0">
              <a:srgbClr val="9AA6C8">
                <a:alpha val="28000"/>
              </a:srgbClr>
            </a:outerShdw>
          </a:effectLst>
        </p:spPr>
        <p:txBody>
          <a:bodyPr/>
          <a:lstStyle/>
          <a:p>
            <a:endParaRPr lang="es-CL"/>
          </a:p>
        </p:txBody>
      </p:sp>
      <p:sp>
        <p:nvSpPr>
          <p:cNvPr id="5" name="Shape 3"/>
          <p:cNvSpPr/>
          <p:nvPr/>
        </p:nvSpPr>
        <p:spPr>
          <a:xfrm>
            <a:off x="1888236" y="2144268"/>
            <a:ext cx="777240" cy="777240"/>
          </a:xfrm>
          <a:prstGeom prst="ellipse">
            <a:avLst/>
          </a:prstGeom>
          <a:solidFill>
            <a:srgbClr val="FFFFFF"/>
          </a:solidFill>
          <a:ln/>
        </p:spPr>
        <p:txBody>
          <a:bodyPr/>
          <a:lstStyle/>
          <a:p>
            <a:endParaRPr lang="es-CL"/>
          </a:p>
        </p:txBody>
      </p:sp>
      <p:pic>
        <p:nvPicPr>
          <p:cNvPr id="6" name="Image 0" descr="ic_car_navy.png"/>
          <p:cNvPicPr>
            <a:picLocks noChangeAspect="1"/>
          </p:cNvPicPr>
          <p:nvPr/>
        </p:nvPicPr>
        <p:blipFill>
          <a:blip r:embed="rId3"/>
          <a:stretch>
            <a:fillRect/>
          </a:stretch>
        </p:blipFill>
        <p:spPr>
          <a:xfrm>
            <a:off x="2105863" y="2361895"/>
            <a:ext cx="341986" cy="341986"/>
          </a:xfrm>
          <a:prstGeom prst="rect">
            <a:avLst/>
          </a:prstGeom>
        </p:spPr>
      </p:pic>
      <p:sp>
        <p:nvSpPr>
          <p:cNvPr id="7" name="Text 4"/>
          <p:cNvSpPr txBox="1"/>
          <p:nvPr/>
        </p:nvSpPr>
        <p:spPr>
          <a:xfrm>
            <a:off x="804672" y="3044952"/>
            <a:ext cx="2944368" cy="365760"/>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El problema</a:t>
            </a:r>
            <a:endParaRPr lang="en-US" sz="1700" dirty="0"/>
          </a:p>
        </p:txBody>
      </p:sp>
      <p:sp>
        <p:nvSpPr>
          <p:cNvPr id="8" name="Text 5"/>
          <p:cNvSpPr txBox="1"/>
          <p:nvPr/>
        </p:nvSpPr>
        <p:spPr>
          <a:xfrm>
            <a:off x="841248" y="3474720"/>
            <a:ext cx="2871216" cy="1645920"/>
          </a:xfrm>
          <a:prstGeom prst="rect">
            <a:avLst/>
          </a:prstGeom>
          <a:noFill/>
          <a:ln/>
        </p:spPr>
        <p:txBody>
          <a:bodyPr wrap="square" lIns="0" tIns="0" rIns="0" bIns="0" rtlCol="0" anchor="ctr"/>
          <a:lstStyle/>
          <a:p>
            <a:pPr marL="0" indent="0" algn="l">
              <a:lnSpc>
                <a:spcPct val="112000"/>
              </a:lnSpc>
              <a:buNone/>
            </a:pPr>
            <a:r>
              <a:rPr lang="en-US" sz="1250" dirty="0">
                <a:solidFill>
                  <a:srgbClr val="4A5578"/>
                </a:solidFill>
                <a:latin typeface="Calibri" pitchFamily="34" charset="0"/>
                <a:ea typeface="Calibri" pitchFamily="34" charset="-122"/>
                <a:cs typeface="Calibri" pitchFamily="34" charset="-120"/>
              </a:rPr>
              <a:t>La compraventa de vehículos usados entre particulares en Chile opera con fotografías 2D estáticas. Cuando existe una vista 3D, corresponde a un modelo genérico de esa marca y modelo, no al estado real de la unidad que se está vendiendo.</a:t>
            </a:r>
            <a:endParaRPr lang="en-US" sz="1250" dirty="0"/>
          </a:p>
        </p:txBody>
      </p:sp>
      <p:sp>
        <p:nvSpPr>
          <p:cNvPr id="9" name="Shape 6"/>
          <p:cNvSpPr/>
          <p:nvPr/>
        </p:nvSpPr>
        <p:spPr>
          <a:xfrm>
            <a:off x="4325112" y="1965960"/>
            <a:ext cx="3456432" cy="3246120"/>
          </a:xfrm>
          <a:prstGeom prst="roundRect">
            <a:avLst>
              <a:gd name="adj" fmla="val 3380"/>
            </a:avLst>
          </a:prstGeom>
          <a:solidFill>
            <a:srgbClr val="E9F0FD"/>
          </a:solidFill>
          <a:ln/>
          <a:effectLst>
            <a:outerShdw blurRad="101600" dist="38100" dir="5400000" algn="bl" rotWithShape="0">
              <a:srgbClr val="9AA6C8">
                <a:alpha val="28000"/>
              </a:srgbClr>
            </a:outerShdw>
          </a:effectLst>
        </p:spPr>
        <p:txBody>
          <a:bodyPr/>
          <a:lstStyle/>
          <a:p>
            <a:endParaRPr lang="es-CL"/>
          </a:p>
        </p:txBody>
      </p:sp>
      <p:sp>
        <p:nvSpPr>
          <p:cNvPr id="10" name="Shape 7"/>
          <p:cNvSpPr/>
          <p:nvPr/>
        </p:nvSpPr>
        <p:spPr>
          <a:xfrm>
            <a:off x="5664708" y="2144268"/>
            <a:ext cx="777240" cy="777240"/>
          </a:xfrm>
          <a:prstGeom prst="ellipse">
            <a:avLst/>
          </a:prstGeom>
          <a:solidFill>
            <a:srgbClr val="FFFFFF"/>
          </a:solidFill>
          <a:ln/>
        </p:spPr>
        <p:txBody>
          <a:bodyPr/>
          <a:lstStyle/>
          <a:p>
            <a:endParaRPr lang="es-CL"/>
          </a:p>
        </p:txBody>
      </p:sp>
      <p:pic>
        <p:nvPicPr>
          <p:cNvPr id="11" name="Image 1" descr="ic_cubes_navy.png"/>
          <p:cNvPicPr>
            <a:picLocks noChangeAspect="1"/>
          </p:cNvPicPr>
          <p:nvPr/>
        </p:nvPicPr>
        <p:blipFill>
          <a:blip r:embed="rId4"/>
          <a:stretch>
            <a:fillRect/>
          </a:stretch>
        </p:blipFill>
        <p:spPr>
          <a:xfrm>
            <a:off x="5882335" y="2361895"/>
            <a:ext cx="341986" cy="341986"/>
          </a:xfrm>
          <a:prstGeom prst="rect">
            <a:avLst/>
          </a:prstGeom>
        </p:spPr>
      </p:pic>
      <p:sp>
        <p:nvSpPr>
          <p:cNvPr id="12" name="Text 8"/>
          <p:cNvSpPr txBox="1"/>
          <p:nvPr/>
        </p:nvSpPr>
        <p:spPr>
          <a:xfrm>
            <a:off x="4581144" y="3044952"/>
            <a:ext cx="2944368" cy="365760"/>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La solución</a:t>
            </a:r>
            <a:endParaRPr lang="en-US" sz="1700" dirty="0"/>
          </a:p>
        </p:txBody>
      </p:sp>
      <p:sp>
        <p:nvSpPr>
          <p:cNvPr id="13" name="Text 9"/>
          <p:cNvSpPr txBox="1"/>
          <p:nvPr/>
        </p:nvSpPr>
        <p:spPr>
          <a:xfrm>
            <a:off x="4617720" y="3474720"/>
            <a:ext cx="2871216" cy="1645920"/>
          </a:xfrm>
          <a:prstGeom prst="rect">
            <a:avLst/>
          </a:prstGeom>
          <a:noFill/>
          <a:ln/>
        </p:spPr>
        <p:txBody>
          <a:bodyPr wrap="square" lIns="0" tIns="0" rIns="0" bIns="0" rtlCol="0" anchor="ctr"/>
          <a:lstStyle/>
          <a:p>
            <a:pPr marL="0" indent="0" algn="l">
              <a:lnSpc>
                <a:spcPct val="112000"/>
              </a:lnSpc>
              <a:buNone/>
            </a:pPr>
            <a:r>
              <a:rPr lang="en-US" sz="1250" dirty="0">
                <a:solidFill>
                  <a:srgbClr val="4A5578"/>
                </a:solidFill>
                <a:latin typeface="Calibri" pitchFamily="34" charset="0"/>
                <a:ea typeface="Calibri" pitchFamily="34" charset="-122"/>
                <a:cs typeface="Calibri" pitchFamily="34" charset="-120"/>
              </a:rPr>
              <a:t>AutoSplat reconstruye un modelo 3D navegable del vehículo real mediante Gaussian Splatting, a partir de un conjunto de fotografías tomadas por el propio vendedor desde distintos ángulos con su teléfono. El comprador lo explora desde el navegador, sin instalar nada.</a:t>
            </a:r>
            <a:endParaRPr lang="en-US" sz="1250" dirty="0"/>
          </a:p>
        </p:txBody>
      </p:sp>
      <p:sp>
        <p:nvSpPr>
          <p:cNvPr id="14" name="Shape 10"/>
          <p:cNvSpPr/>
          <p:nvPr/>
        </p:nvSpPr>
        <p:spPr>
          <a:xfrm>
            <a:off x="8101584" y="1965960"/>
            <a:ext cx="3456432" cy="3246120"/>
          </a:xfrm>
          <a:prstGeom prst="roundRect">
            <a:avLst>
              <a:gd name="adj" fmla="val 3380"/>
            </a:avLst>
          </a:prstGeom>
          <a:solidFill>
            <a:srgbClr val="E9F0FD"/>
          </a:solidFill>
          <a:ln/>
          <a:effectLst>
            <a:outerShdw blurRad="101600" dist="38100" dir="5400000" algn="bl" rotWithShape="0">
              <a:srgbClr val="9AA6C8">
                <a:alpha val="28000"/>
              </a:srgbClr>
            </a:outerShdw>
          </a:effectLst>
        </p:spPr>
        <p:txBody>
          <a:bodyPr/>
          <a:lstStyle/>
          <a:p>
            <a:endParaRPr lang="es-CL"/>
          </a:p>
        </p:txBody>
      </p:sp>
      <p:sp>
        <p:nvSpPr>
          <p:cNvPr id="15" name="Shape 11"/>
          <p:cNvSpPr/>
          <p:nvPr/>
        </p:nvSpPr>
        <p:spPr>
          <a:xfrm>
            <a:off x="9441180" y="2144268"/>
            <a:ext cx="777240" cy="777240"/>
          </a:xfrm>
          <a:prstGeom prst="ellipse">
            <a:avLst/>
          </a:prstGeom>
          <a:solidFill>
            <a:srgbClr val="FFFFFF"/>
          </a:solidFill>
          <a:ln/>
        </p:spPr>
        <p:txBody>
          <a:bodyPr/>
          <a:lstStyle/>
          <a:p>
            <a:endParaRPr lang="es-CL"/>
          </a:p>
        </p:txBody>
      </p:sp>
      <p:pic>
        <p:nvPicPr>
          <p:cNvPr id="16" name="Image 2" descr="ic_chart_navy.png"/>
          <p:cNvPicPr>
            <a:picLocks noChangeAspect="1"/>
          </p:cNvPicPr>
          <p:nvPr/>
        </p:nvPicPr>
        <p:blipFill>
          <a:blip r:embed="rId5"/>
          <a:stretch>
            <a:fillRect/>
          </a:stretch>
        </p:blipFill>
        <p:spPr>
          <a:xfrm>
            <a:off x="9658807" y="2361895"/>
            <a:ext cx="341986" cy="341986"/>
          </a:xfrm>
          <a:prstGeom prst="rect">
            <a:avLst/>
          </a:prstGeom>
        </p:spPr>
      </p:pic>
      <p:sp>
        <p:nvSpPr>
          <p:cNvPr id="17" name="Text 12"/>
          <p:cNvSpPr txBox="1"/>
          <p:nvPr/>
        </p:nvSpPr>
        <p:spPr>
          <a:xfrm>
            <a:off x="8357616" y="3044952"/>
            <a:ext cx="2944368" cy="365760"/>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Dónde estamos</a:t>
            </a:r>
            <a:endParaRPr lang="en-US" sz="1700" dirty="0"/>
          </a:p>
        </p:txBody>
      </p:sp>
      <p:sp>
        <p:nvSpPr>
          <p:cNvPr id="18" name="Text 13"/>
          <p:cNvSpPr txBox="1"/>
          <p:nvPr/>
        </p:nvSpPr>
        <p:spPr>
          <a:xfrm>
            <a:off x="8394192" y="3474720"/>
            <a:ext cx="2871216" cy="1645920"/>
          </a:xfrm>
          <a:prstGeom prst="rect">
            <a:avLst/>
          </a:prstGeom>
          <a:noFill/>
          <a:ln/>
        </p:spPr>
        <p:txBody>
          <a:bodyPr wrap="square" lIns="0" tIns="0" rIns="0" bIns="0" rtlCol="0" anchor="ctr"/>
          <a:lstStyle/>
          <a:p>
            <a:pPr marL="0" indent="0" algn="l">
              <a:lnSpc>
                <a:spcPct val="112000"/>
              </a:lnSpc>
              <a:buNone/>
            </a:pPr>
            <a:r>
              <a:rPr lang="en-US" sz="1250" dirty="0">
                <a:solidFill>
                  <a:srgbClr val="4A5578"/>
                </a:solidFill>
                <a:latin typeface="Calibri" pitchFamily="34" charset="0"/>
                <a:ea typeface="Calibri" pitchFamily="34" charset="-122"/>
                <a:cs typeface="Calibri" pitchFamily="34" charset="-120"/>
              </a:rPr>
              <a:t>El equipo inició el 22 de agosto de 2026. A la fecha se completó la definición del alcance, la metodología y la mitad del catálogo de requisitos; la prueba de concepto del pipeline confirmó la viabilidad técnica.</a:t>
            </a:r>
            <a:endParaRPr lang="en-US" sz="1250" dirty="0"/>
          </a:p>
        </p:txBody>
      </p:sp>
      <p:sp>
        <p:nvSpPr>
          <p:cNvPr id="19" name="Shape 14"/>
          <p:cNvSpPr/>
          <p:nvPr/>
        </p:nvSpPr>
        <p:spPr>
          <a:xfrm>
            <a:off x="548640" y="5486400"/>
            <a:ext cx="11091672" cy="777240"/>
          </a:xfrm>
          <a:prstGeom prst="roundRect">
            <a:avLst>
              <a:gd name="adj" fmla="val 11765"/>
            </a:avLst>
          </a:prstGeom>
          <a:solidFill>
            <a:srgbClr val="1E2761"/>
          </a:solidFill>
          <a:ln/>
        </p:spPr>
        <p:txBody>
          <a:bodyPr/>
          <a:lstStyle/>
          <a:p>
            <a:endParaRPr lang="es-CL"/>
          </a:p>
        </p:txBody>
      </p:sp>
      <p:sp>
        <p:nvSpPr>
          <p:cNvPr id="20" name="Text 15"/>
          <p:cNvSpPr txBox="1"/>
          <p:nvPr/>
        </p:nvSpPr>
        <p:spPr>
          <a:xfrm>
            <a:off x="868680" y="5486400"/>
            <a:ext cx="10469880" cy="777240"/>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“AutoSplat” — de auto (vehículo) + splat (Gaussian Splatting): el nombre resume la propuesta en una palabra.</a:t>
            </a:r>
            <a:endParaRPr lang="en-US" sz="1200" dirty="0"/>
          </a:p>
        </p:txBody>
      </p:sp>
      <p:sp>
        <p:nvSpPr>
          <p:cNvPr id="21" name="Text 16"/>
          <p:cNvSpPr txBox="1"/>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8891B0"/>
                </a:solidFill>
                <a:latin typeface="Calibri" pitchFamily="34" charset="0"/>
                <a:ea typeface="Calibri" pitchFamily="34" charset="-122"/>
                <a:cs typeface="Calibri" pitchFamily="34" charset="-120"/>
              </a:rPr>
              <a:t>AutoSplat · Fase 1</a:t>
            </a:r>
            <a:endParaRPr lang="en-US" sz="900" dirty="0"/>
          </a:p>
        </p:txBody>
      </p:sp>
      <p:sp>
        <p:nvSpPr>
          <p:cNvPr id="22" name="Text 17"/>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lgn="l">
              <a:buNone/>
            </a:pPr>
            <a:r>
              <a:rPr lang="en-US" sz="1250" b="1" kern="0" spc="200" dirty="0">
                <a:solidFill>
                  <a:srgbClr val="FF8A3D"/>
                </a:solidFill>
                <a:latin typeface="Calibri" pitchFamily="34" charset="0"/>
                <a:ea typeface="Calibri" pitchFamily="34" charset="-122"/>
                <a:cs typeface="Calibri" pitchFamily="34" charset="-120"/>
              </a:rPr>
              <a:t>IE 1 · DESCRIPCIÓN Y RELEVANCIA</a:t>
            </a:r>
            <a:endParaRPr lang="en-US" sz="1250" dirty="0"/>
          </a:p>
        </p:txBody>
      </p:sp>
      <p:sp>
        <p:nvSpPr>
          <p:cNvPr id="3" name="Text 1"/>
          <p:cNvSpPr txBox="1"/>
          <p:nvPr/>
        </p:nvSpPr>
        <p:spPr>
          <a:xfrm>
            <a:off x="548640" y="658368"/>
            <a:ext cx="10607040" cy="77724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¿Por qué vale la pena construir AutoSplat?</a:t>
            </a:r>
            <a:endParaRPr lang="en-US" sz="3200" dirty="0"/>
          </a:p>
        </p:txBody>
      </p:sp>
      <p:sp>
        <p:nvSpPr>
          <p:cNvPr id="4" name="Text 2"/>
          <p:cNvSpPr txBox="1"/>
          <p:nvPr/>
        </p:nvSpPr>
        <p:spPr>
          <a:xfrm>
            <a:off x="548640" y="1600200"/>
            <a:ext cx="576072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Definición del proyecto</a:t>
            </a:r>
            <a:endParaRPr lang="en-US" sz="1700" dirty="0"/>
          </a:p>
        </p:txBody>
      </p:sp>
      <p:sp>
        <p:nvSpPr>
          <p:cNvPr id="5" name="Text 3"/>
          <p:cNvSpPr txBox="1"/>
          <p:nvPr/>
        </p:nvSpPr>
        <p:spPr>
          <a:xfrm>
            <a:off x="548640" y="2011680"/>
            <a:ext cx="5760720" cy="1280160"/>
          </a:xfrm>
          <a:prstGeom prst="rect">
            <a:avLst/>
          </a:prstGeom>
          <a:noFill/>
          <a:ln/>
        </p:spPr>
        <p:txBody>
          <a:bodyPr wrap="square" lIns="0" tIns="0" rIns="0" bIns="0" rtlCol="0" anchor="ctr"/>
          <a:lstStyle/>
          <a:p>
            <a:pPr marL="0" indent="0">
              <a:lnSpc>
                <a:spcPct val="120000"/>
              </a:lnSpc>
              <a:buNone/>
            </a:pPr>
            <a:r>
              <a:rPr lang="en-US" sz="1350" dirty="0">
                <a:solidFill>
                  <a:srgbClr val="4A5578"/>
                </a:solidFill>
                <a:latin typeface="Calibri" pitchFamily="34" charset="0"/>
                <a:ea typeface="Calibri" pitchFamily="34" charset="-122"/>
                <a:cs typeface="Calibri" pitchFamily="34" charset="-120"/>
              </a:rPr>
              <a:t>Plataforma web de compraventa de vehículos usados que incorpora un visor tridimensional interactivo, generado automáticamente a partir de fotografías del vehículo real tomadas por el vendedor desde distintos ángulos con su teléfono móvil, sin equipamiento de escaneo profesional.</a:t>
            </a:r>
            <a:endParaRPr lang="en-US" sz="1350" dirty="0"/>
          </a:p>
        </p:txBody>
      </p:sp>
      <p:sp>
        <p:nvSpPr>
          <p:cNvPr id="6" name="Text 4"/>
          <p:cNvSpPr txBox="1"/>
          <p:nvPr/>
        </p:nvSpPr>
        <p:spPr>
          <a:xfrm>
            <a:off x="548640" y="3429000"/>
            <a:ext cx="576072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Valor para la industria</a:t>
            </a:r>
            <a:endParaRPr lang="en-US" sz="1700" dirty="0"/>
          </a:p>
        </p:txBody>
      </p:sp>
      <p:sp>
        <p:nvSpPr>
          <p:cNvPr id="7" name="Text 5"/>
          <p:cNvSpPr txBox="1"/>
          <p:nvPr/>
        </p:nvSpPr>
        <p:spPr>
          <a:xfrm>
            <a:off x="548640" y="3822192"/>
            <a:ext cx="5760720" cy="1737360"/>
          </a:xfrm>
          <a:prstGeom prst="rect">
            <a:avLst/>
          </a:prstGeom>
          <a:noFill/>
          <a:ln/>
        </p:spPr>
        <p:txBody>
          <a:bodyPr wrap="square" lIns="0" tIns="0" rIns="0" bIns="0" rtlCol="0" anchor="ctr"/>
          <a:lstStyle/>
          <a:p>
            <a:pPr marL="228600" indent="-228600">
              <a:lnSpc>
                <a:spcPct val="105000"/>
              </a:lnSpc>
              <a:spcAft>
                <a:spcPts val="1000"/>
              </a:spcAft>
              <a:buSzPct val="100000"/>
              <a:buChar char="→"/>
            </a:pPr>
            <a:r>
              <a:rPr lang="en-US" sz="1300" dirty="0">
                <a:solidFill>
                  <a:srgbClr val="4A5578"/>
                </a:solidFill>
                <a:latin typeface="Calibri" pitchFamily="34" charset="0"/>
                <a:ea typeface="Calibri" pitchFamily="34" charset="-122"/>
                <a:cs typeface="Calibri" pitchFamily="34" charset="-120"/>
              </a:rPr>
              <a:t>Reduce visitas presenciales innecesarias y el tiempo de venta.</a:t>
            </a:r>
            <a:endParaRPr lang="en-US" sz="1300" dirty="0"/>
          </a:p>
          <a:p>
            <a:pPr marL="228600" indent="-228600">
              <a:lnSpc>
                <a:spcPct val="105000"/>
              </a:lnSpc>
              <a:spcAft>
                <a:spcPts val="1000"/>
              </a:spcAft>
              <a:buSzPct val="100000"/>
              <a:buChar char="→"/>
            </a:pPr>
            <a:r>
              <a:rPr lang="en-US" sz="1300" dirty="0">
                <a:solidFill>
                  <a:srgbClr val="4A5578"/>
                </a:solidFill>
                <a:latin typeface="Calibri" pitchFamily="34" charset="0"/>
                <a:ea typeface="Calibri" pitchFamily="34" charset="-122"/>
                <a:cs typeface="Calibri" pitchFamily="34" charset="-120"/>
              </a:rPr>
              <a:t>Aplica una técnica de vanguardia (2023) a un problema de mercado real y masivo en Chile.</a:t>
            </a:r>
            <a:endParaRPr lang="en-US" sz="1300" dirty="0"/>
          </a:p>
          <a:p>
            <a:pPr marL="228600" indent="-228600">
              <a:lnSpc>
                <a:spcPct val="105000"/>
              </a:lnSpc>
              <a:spcAft>
                <a:spcPts val="1000"/>
              </a:spcAft>
              <a:buSzPct val="100000"/>
              <a:buChar char="→"/>
            </a:pPr>
            <a:r>
              <a:rPr lang="en-US" sz="1300" dirty="0">
                <a:solidFill>
                  <a:srgbClr val="4A5578"/>
                </a:solidFill>
                <a:latin typeface="Calibri" pitchFamily="34" charset="0"/>
                <a:ea typeface="Calibri" pitchFamily="34" charset="-122"/>
                <a:cs typeface="Calibri" pitchFamily="34" charset="-120"/>
              </a:rPr>
              <a:t>Integra desarrollo full-stack, cómputo GPU bajo demanda y arquitectura distribuida — perfil altamente solicitado.</a:t>
            </a:r>
            <a:endParaRPr lang="en-US" sz="1300" dirty="0"/>
          </a:p>
        </p:txBody>
      </p:sp>
      <p:sp>
        <p:nvSpPr>
          <p:cNvPr id="8" name="Shape 6"/>
          <p:cNvSpPr/>
          <p:nvPr/>
        </p:nvSpPr>
        <p:spPr>
          <a:xfrm>
            <a:off x="6903720" y="1600200"/>
            <a:ext cx="4754880" cy="4251960"/>
          </a:xfrm>
          <a:prstGeom prst="roundRect">
            <a:avLst>
              <a:gd name="adj" fmla="val 2581"/>
            </a:avLst>
          </a:prstGeom>
          <a:solidFill>
            <a:srgbClr val="1E2761"/>
          </a:solidFill>
          <a:ln/>
        </p:spPr>
        <p:txBody>
          <a:bodyPr/>
          <a:lstStyle/>
          <a:p>
            <a:endParaRPr lang="es-CL"/>
          </a:p>
        </p:txBody>
      </p:sp>
      <p:sp>
        <p:nvSpPr>
          <p:cNvPr id="9" name="Text 7"/>
          <p:cNvSpPr txBox="1"/>
          <p:nvPr/>
        </p:nvSpPr>
        <p:spPr>
          <a:xfrm>
            <a:off x="7269480" y="1874520"/>
            <a:ext cx="4023360" cy="320040"/>
          </a:xfrm>
          <a:prstGeom prst="rect">
            <a:avLst/>
          </a:prstGeom>
          <a:noFill/>
          <a:ln/>
        </p:spPr>
        <p:txBody>
          <a:bodyPr wrap="square" lIns="0" tIns="0" rIns="0" bIns="0" rtlCol="0" anchor="ctr"/>
          <a:lstStyle/>
          <a:p>
            <a:pPr marL="0" indent="0">
              <a:buNone/>
            </a:pPr>
            <a:r>
              <a:rPr lang="en-US" sz="1150" b="1" kern="0" spc="200" dirty="0">
                <a:solidFill>
                  <a:srgbClr val="FF8A3D"/>
                </a:solidFill>
                <a:latin typeface="Calibri" pitchFamily="34" charset="0"/>
                <a:ea typeface="Calibri" pitchFamily="34" charset="-122"/>
                <a:cs typeface="Calibri" pitchFamily="34" charset="-120"/>
              </a:rPr>
              <a:t>EL PROBLEMA EN CIFRAS</a:t>
            </a:r>
            <a:endParaRPr lang="en-US" sz="1150" dirty="0"/>
          </a:p>
        </p:txBody>
      </p:sp>
      <p:sp>
        <p:nvSpPr>
          <p:cNvPr id="10" name="Text 8"/>
          <p:cNvSpPr txBox="1"/>
          <p:nvPr/>
        </p:nvSpPr>
        <p:spPr>
          <a:xfrm>
            <a:off x="7162016" y="2427732"/>
            <a:ext cx="1677967"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100%</a:t>
            </a:r>
            <a:endParaRPr lang="en-US" sz="3200" dirty="0"/>
          </a:p>
        </p:txBody>
      </p:sp>
      <p:sp>
        <p:nvSpPr>
          <p:cNvPr id="11" name="Text 9"/>
          <p:cNvSpPr txBox="1"/>
          <p:nvPr/>
        </p:nvSpPr>
        <p:spPr>
          <a:xfrm>
            <a:off x="8686800" y="2450592"/>
            <a:ext cx="2606040" cy="777240"/>
          </a:xfrm>
          <a:prstGeom prst="rect">
            <a:avLst/>
          </a:prstGeom>
          <a:noFill/>
          <a:ln/>
        </p:spPr>
        <p:txBody>
          <a:bodyPr wrap="square" lIns="0" tIns="0" rIns="0" bIns="0" rtlCol="0" anchor="ctr"/>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de la oferta actual se muestra solo con fotos estáticas en 2D</a:t>
            </a:r>
            <a:endParaRPr lang="en-US" sz="1150" dirty="0"/>
          </a:p>
        </p:txBody>
      </p:sp>
      <p:sp>
        <p:nvSpPr>
          <p:cNvPr id="12" name="Text 10"/>
          <p:cNvSpPr txBox="1"/>
          <p:nvPr/>
        </p:nvSpPr>
        <p:spPr>
          <a:xfrm>
            <a:off x="7269480" y="3429000"/>
            <a:ext cx="146304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0</a:t>
            </a:r>
            <a:endParaRPr lang="en-US" sz="4400" dirty="0"/>
          </a:p>
        </p:txBody>
      </p:sp>
      <p:sp>
        <p:nvSpPr>
          <p:cNvPr id="13" name="Text 11"/>
          <p:cNvSpPr txBox="1"/>
          <p:nvPr/>
        </p:nvSpPr>
        <p:spPr>
          <a:xfrm>
            <a:off x="8686800" y="3502152"/>
            <a:ext cx="2606040" cy="777240"/>
          </a:xfrm>
          <a:prstGeom prst="rect">
            <a:avLst/>
          </a:prstGeom>
          <a:noFill/>
          <a:ln/>
        </p:spPr>
        <p:txBody>
          <a:bodyPr wrap="square" lIns="0" tIns="0" rIns="0" bIns="0" rtlCol="0" anchor="ctr"/>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plataformas nacionales muestran un modelo 3D de la unidad real que se vende, y no de un genérico</a:t>
            </a:r>
            <a:endParaRPr lang="en-US" sz="1150" dirty="0"/>
          </a:p>
        </p:txBody>
      </p:sp>
      <p:sp>
        <p:nvSpPr>
          <p:cNvPr id="14" name="Text 12"/>
          <p:cNvSpPr txBox="1"/>
          <p:nvPr/>
        </p:nvSpPr>
        <p:spPr>
          <a:xfrm>
            <a:off x="7269480" y="4480560"/>
            <a:ext cx="146304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4</a:t>
            </a:r>
            <a:endParaRPr lang="en-US" sz="4400" dirty="0"/>
          </a:p>
        </p:txBody>
      </p:sp>
      <p:sp>
        <p:nvSpPr>
          <p:cNvPr id="15" name="Text 13"/>
          <p:cNvSpPr txBox="1"/>
          <p:nvPr/>
        </p:nvSpPr>
        <p:spPr>
          <a:xfrm>
            <a:off x="8686800" y="4553712"/>
            <a:ext cx="2606040" cy="777240"/>
          </a:xfrm>
          <a:prstGeom prst="rect">
            <a:avLst/>
          </a:prstGeom>
          <a:noFill/>
          <a:ln/>
        </p:spPr>
        <p:txBody>
          <a:bodyPr wrap="square" lIns="0" tIns="0" rIns="0" bIns="0" rtlCol="0" anchor="ctr"/>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componentes desacoplados en la arquitectura: frontend, backend, worker 3D y base de datos</a:t>
            </a:r>
            <a:endParaRPr lang="en-US" sz="1150" dirty="0"/>
          </a:p>
        </p:txBody>
      </p:sp>
      <p:sp>
        <p:nvSpPr>
          <p:cNvPr id="16" name="Text 14"/>
          <p:cNvSpPr txBox="1"/>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8891B0"/>
                </a:solidFill>
                <a:latin typeface="Calibri" pitchFamily="34" charset="0"/>
                <a:ea typeface="Calibri" pitchFamily="34" charset="-122"/>
                <a:cs typeface="Calibri" pitchFamily="34" charset="-120"/>
              </a:rPr>
              <a:t>AutoSplat · Fase 1</a:t>
            </a:r>
            <a:endParaRPr lang="en-US" sz="900" dirty="0"/>
          </a:p>
        </p:txBody>
      </p:sp>
      <p:sp>
        <p:nvSpPr>
          <p:cNvPr id="17" name="Text 15"/>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lgn="l">
              <a:buNone/>
            </a:pPr>
            <a:r>
              <a:rPr lang="en-US" sz="1250" b="1" kern="0" spc="200" dirty="0">
                <a:solidFill>
                  <a:srgbClr val="FF8A3D"/>
                </a:solidFill>
                <a:latin typeface="Calibri" pitchFamily="34" charset="0"/>
                <a:ea typeface="Calibri" pitchFamily="34" charset="-122"/>
                <a:cs typeface="Calibri" pitchFamily="34" charset="-120"/>
              </a:rPr>
              <a:t>IE 2 · IE 3 — COMPETENCIAS E INTERESES</a:t>
            </a:r>
            <a:endParaRPr lang="en-US" sz="1250" dirty="0"/>
          </a:p>
        </p:txBody>
      </p:sp>
      <p:sp>
        <p:nvSpPr>
          <p:cNvPr id="3" name="Text 1"/>
          <p:cNvSpPr txBox="1"/>
          <p:nvPr/>
        </p:nvSpPr>
        <p:spPr>
          <a:xfrm>
            <a:off x="548640" y="658368"/>
            <a:ext cx="10607040" cy="77724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Cómo AutoSplat conecta con el perfil de egreso</a:t>
            </a:r>
            <a:endParaRPr lang="en-US" sz="3200" dirty="0"/>
          </a:p>
        </p:txBody>
      </p:sp>
      <p:sp>
        <p:nvSpPr>
          <p:cNvPr id="4" name="Shape 2"/>
          <p:cNvSpPr/>
          <p:nvPr/>
        </p:nvSpPr>
        <p:spPr>
          <a:xfrm>
            <a:off x="548640" y="1691640"/>
            <a:ext cx="11064240" cy="1481328"/>
          </a:xfrm>
          <a:prstGeom prst="roundRect">
            <a:avLst>
              <a:gd name="adj" fmla="val 6173"/>
            </a:avLst>
          </a:prstGeom>
          <a:solidFill>
            <a:srgbClr val="E9F0FD"/>
          </a:solidFill>
          <a:ln w="12700">
            <a:solidFill>
              <a:srgbClr val="E3E8F5"/>
            </a:solidFill>
            <a:prstDash val="solid"/>
          </a:ln>
        </p:spPr>
        <p:txBody>
          <a:bodyPr/>
          <a:lstStyle/>
          <a:p>
            <a:endParaRPr lang="es-CL"/>
          </a:p>
        </p:txBody>
      </p:sp>
      <p:sp>
        <p:nvSpPr>
          <p:cNvPr id="5" name="Shape 3"/>
          <p:cNvSpPr/>
          <p:nvPr/>
        </p:nvSpPr>
        <p:spPr>
          <a:xfrm>
            <a:off x="905256" y="2103120"/>
            <a:ext cx="658368" cy="658368"/>
          </a:xfrm>
          <a:prstGeom prst="ellipse">
            <a:avLst/>
          </a:prstGeom>
          <a:solidFill>
            <a:srgbClr val="1E2761"/>
          </a:solidFill>
          <a:ln/>
        </p:spPr>
        <p:txBody>
          <a:bodyPr/>
          <a:lstStyle/>
          <a:p>
            <a:endParaRPr lang="es-CL"/>
          </a:p>
        </p:txBody>
      </p:sp>
      <p:pic>
        <p:nvPicPr>
          <p:cNvPr id="6" name="Image 0" descr="ic_database.png"/>
          <p:cNvPicPr>
            <a:picLocks noChangeAspect="1"/>
          </p:cNvPicPr>
          <p:nvPr/>
        </p:nvPicPr>
        <p:blipFill>
          <a:blip r:embed="rId3"/>
          <a:stretch>
            <a:fillRect/>
          </a:stretch>
        </p:blipFill>
        <p:spPr>
          <a:xfrm>
            <a:off x="1089599" y="2287463"/>
            <a:ext cx="289682" cy="289682"/>
          </a:xfrm>
          <a:prstGeom prst="rect">
            <a:avLst/>
          </a:prstGeom>
        </p:spPr>
      </p:pic>
      <p:sp>
        <p:nvSpPr>
          <p:cNvPr id="7" name="Text 4"/>
          <p:cNvSpPr txBox="1"/>
          <p:nvPr/>
        </p:nvSpPr>
        <p:spPr>
          <a:xfrm>
            <a:off x="1737360" y="1837944"/>
            <a:ext cx="2743200" cy="310896"/>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Aldo Espinoza Daza</a:t>
            </a:r>
            <a:endParaRPr lang="en-US" sz="1450" dirty="0"/>
          </a:p>
        </p:txBody>
      </p:sp>
      <p:sp>
        <p:nvSpPr>
          <p:cNvPr id="8" name="Text 5"/>
          <p:cNvSpPr txBox="1"/>
          <p:nvPr/>
        </p:nvSpPr>
        <p:spPr>
          <a:xfrm>
            <a:off x="1737360" y="2148840"/>
            <a:ext cx="2743200" cy="822960"/>
          </a:xfrm>
          <a:prstGeom prst="rect">
            <a:avLst/>
          </a:prstGeom>
          <a:noFill/>
          <a:ln/>
        </p:spPr>
        <p:txBody>
          <a:bodyPr wrap="square" lIns="0" tIns="0" rIns="0" bIns="0" rtlCol="0" anchor="ctr"/>
          <a:lstStyle/>
          <a:p>
            <a:pPr marL="0" indent="0">
              <a:buNone/>
            </a:pPr>
            <a:r>
              <a:rPr lang="en-US" sz="1150" i="1" dirty="0">
                <a:solidFill>
                  <a:srgbClr val="8891B0"/>
                </a:solidFill>
                <a:latin typeface="Calibri" pitchFamily="34" charset="0"/>
                <a:ea typeface="Calibri" pitchFamily="34" charset="-122"/>
                <a:cs typeface="Calibri" pitchFamily="34" charset="-120"/>
              </a:rPr>
              <a:t>Base de datos e integración</a:t>
            </a:r>
            <a:endParaRPr lang="en-US" sz="1150" dirty="0"/>
          </a:p>
        </p:txBody>
      </p:sp>
      <p:sp>
        <p:nvSpPr>
          <p:cNvPr id="9" name="Text 6"/>
          <p:cNvSpPr txBox="1"/>
          <p:nvPr/>
        </p:nvSpPr>
        <p:spPr>
          <a:xfrm>
            <a:off x="4617720" y="1819656"/>
            <a:ext cx="3291840" cy="365760"/>
          </a:xfrm>
          <a:prstGeom prst="rect">
            <a:avLst/>
          </a:prstGeom>
          <a:noFill/>
          <a:ln/>
        </p:spPr>
        <p:txBody>
          <a:bodyPr wrap="square" lIns="0" tIns="0" rIns="0" bIns="0" rtlCol="0" anchor="ctr"/>
          <a:lstStyle/>
          <a:p>
            <a:pPr marL="0" indent="0">
              <a:buNone/>
            </a:pPr>
            <a:r>
              <a:rPr lang="en-US" sz="1150" b="1" dirty="0">
                <a:solidFill>
                  <a:srgbClr val="FF8A3D"/>
                </a:solidFill>
                <a:latin typeface="Calibri" pitchFamily="34" charset="0"/>
                <a:ea typeface="Calibri" pitchFamily="34" charset="-122"/>
                <a:cs typeface="Calibri" pitchFamily="34" charset="-120"/>
              </a:rPr>
              <a:t>Competencia 3 — Construir modelos de datos escalables</a:t>
            </a:r>
            <a:endParaRPr lang="en-US" sz="1150" dirty="0"/>
          </a:p>
        </p:txBody>
      </p:sp>
      <p:sp>
        <p:nvSpPr>
          <p:cNvPr id="10" name="Text 7"/>
          <p:cNvSpPr txBox="1"/>
          <p:nvPr/>
        </p:nvSpPr>
        <p:spPr>
          <a:xfrm>
            <a:off x="4617720" y="2167128"/>
            <a:ext cx="3291840" cy="868680"/>
          </a:xfrm>
          <a:prstGeom prst="rect">
            <a:avLst/>
          </a:prstGeom>
          <a:noFill/>
          <a:ln/>
        </p:spPr>
        <p:txBody>
          <a:bodyPr wrap="square" lIns="0" tIns="0" rIns="0" bIns="0" rtlCol="0" anchor="ctr"/>
          <a:lstStyle/>
          <a:p>
            <a:pPr marL="0" indent="0">
              <a:lnSpc>
                <a:spcPct val="108000"/>
              </a:lnSpc>
              <a:buNone/>
            </a:pPr>
            <a:r>
              <a:rPr lang="en-US" sz="1080" dirty="0">
                <a:solidFill>
                  <a:srgbClr val="4A5578"/>
                </a:solidFill>
                <a:latin typeface="Calibri" pitchFamily="34" charset="0"/>
                <a:ea typeface="Calibri" pitchFamily="34" charset="-122"/>
                <a:cs typeface="Calibri" pitchFamily="34" charset="-120"/>
              </a:rPr>
              <a:t>Modelo relacional completo (usuarios, publicaciones, trabajos 3D, auditoría) con políticas de seguridad a nivel de fila.</a:t>
            </a:r>
            <a:endParaRPr lang="en-US" sz="1080" dirty="0"/>
          </a:p>
        </p:txBody>
      </p:sp>
      <p:sp>
        <p:nvSpPr>
          <p:cNvPr id="11" name="Text 8"/>
          <p:cNvSpPr txBox="1"/>
          <p:nvPr/>
        </p:nvSpPr>
        <p:spPr>
          <a:xfrm>
            <a:off x="8092440" y="1819656"/>
            <a:ext cx="3337560" cy="274320"/>
          </a:xfrm>
          <a:prstGeom prst="rect">
            <a:avLst/>
          </a:prstGeom>
          <a:noFill/>
          <a:ln/>
        </p:spPr>
        <p:txBody>
          <a:bodyPr wrap="square" lIns="0" tIns="0" rIns="0" bIns="0" rtlCol="0" anchor="ctr"/>
          <a:lstStyle/>
          <a:p>
            <a:pPr marL="0" indent="0">
              <a:buNone/>
            </a:pPr>
            <a:r>
              <a:rPr lang="en-US" sz="1000" b="1" kern="0" spc="100" dirty="0">
                <a:solidFill>
                  <a:srgbClr val="8891B0"/>
                </a:solidFill>
                <a:latin typeface="Calibri" pitchFamily="34" charset="0"/>
                <a:ea typeface="Calibri" pitchFamily="34" charset="-122"/>
                <a:cs typeface="Calibri" pitchFamily="34" charset="-120"/>
              </a:rPr>
              <a:t>Interés profesional</a:t>
            </a:r>
            <a:endParaRPr lang="en-US" sz="1000" dirty="0"/>
          </a:p>
        </p:txBody>
      </p:sp>
      <p:sp>
        <p:nvSpPr>
          <p:cNvPr id="12" name="Text 9"/>
          <p:cNvSpPr txBox="1"/>
          <p:nvPr/>
        </p:nvSpPr>
        <p:spPr>
          <a:xfrm>
            <a:off x="8092440" y="2093976"/>
            <a:ext cx="3337560" cy="914400"/>
          </a:xfrm>
          <a:prstGeom prst="rect">
            <a:avLst/>
          </a:prstGeom>
          <a:noFill/>
          <a:ln/>
        </p:spPr>
        <p:txBody>
          <a:bodyPr wrap="square" lIns="0" tIns="0" rIns="0" bIns="0" rtlCol="0" anchor="ctr"/>
          <a:lstStyle/>
          <a:p>
            <a:pPr marL="0" indent="0">
              <a:lnSpc>
                <a:spcPct val="110000"/>
              </a:lnSpc>
              <a:buNone/>
            </a:pPr>
            <a:r>
              <a:rPr lang="en-US" sz="1100" i="1" dirty="0">
                <a:solidFill>
                  <a:srgbClr val="4A5578"/>
                </a:solidFill>
                <a:latin typeface="Calibri" pitchFamily="34" charset="0"/>
                <a:ea typeface="Calibri" pitchFamily="34" charset="-122"/>
                <a:cs typeface="Calibri" pitchFamily="34" charset="-120"/>
              </a:rPr>
              <a:t>Profundizar en modelado de datos y arquitectura de sistemas distribuidos.</a:t>
            </a:r>
            <a:endParaRPr lang="en-US" sz="1100" dirty="0"/>
          </a:p>
        </p:txBody>
      </p:sp>
      <p:sp>
        <p:nvSpPr>
          <p:cNvPr id="13" name="Shape 10"/>
          <p:cNvSpPr/>
          <p:nvPr/>
        </p:nvSpPr>
        <p:spPr>
          <a:xfrm>
            <a:off x="548640" y="3300984"/>
            <a:ext cx="11064240" cy="1481328"/>
          </a:xfrm>
          <a:prstGeom prst="roundRect">
            <a:avLst>
              <a:gd name="adj" fmla="val 6173"/>
            </a:avLst>
          </a:prstGeom>
          <a:solidFill>
            <a:srgbClr val="FFFFFF"/>
          </a:solidFill>
          <a:ln w="12700">
            <a:solidFill>
              <a:srgbClr val="E3E8F5"/>
            </a:solidFill>
            <a:prstDash val="solid"/>
          </a:ln>
        </p:spPr>
        <p:txBody>
          <a:bodyPr/>
          <a:lstStyle/>
          <a:p>
            <a:endParaRPr lang="es-CL"/>
          </a:p>
        </p:txBody>
      </p:sp>
      <p:sp>
        <p:nvSpPr>
          <p:cNvPr id="14" name="Shape 11"/>
          <p:cNvSpPr/>
          <p:nvPr/>
        </p:nvSpPr>
        <p:spPr>
          <a:xfrm>
            <a:off x="905256" y="3712464"/>
            <a:ext cx="658368" cy="658368"/>
          </a:xfrm>
          <a:prstGeom prst="ellipse">
            <a:avLst/>
          </a:prstGeom>
          <a:solidFill>
            <a:srgbClr val="1E2761"/>
          </a:solidFill>
          <a:ln/>
        </p:spPr>
        <p:txBody>
          <a:bodyPr/>
          <a:lstStyle/>
          <a:p>
            <a:endParaRPr lang="es-CL"/>
          </a:p>
        </p:txBody>
      </p:sp>
      <p:pic>
        <p:nvPicPr>
          <p:cNvPr id="15" name="Image 1" descr="ic_code.png"/>
          <p:cNvPicPr>
            <a:picLocks noChangeAspect="1"/>
          </p:cNvPicPr>
          <p:nvPr/>
        </p:nvPicPr>
        <p:blipFill>
          <a:blip r:embed="rId4"/>
          <a:stretch>
            <a:fillRect/>
          </a:stretch>
        </p:blipFill>
        <p:spPr>
          <a:xfrm>
            <a:off x="1089599" y="3896807"/>
            <a:ext cx="289682" cy="289682"/>
          </a:xfrm>
          <a:prstGeom prst="rect">
            <a:avLst/>
          </a:prstGeom>
        </p:spPr>
      </p:pic>
      <p:sp>
        <p:nvSpPr>
          <p:cNvPr id="16" name="Text 12"/>
          <p:cNvSpPr txBox="1"/>
          <p:nvPr/>
        </p:nvSpPr>
        <p:spPr>
          <a:xfrm>
            <a:off x="1737360" y="3447288"/>
            <a:ext cx="2743200" cy="310896"/>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Jesús Rojas Gutiérrez</a:t>
            </a:r>
            <a:endParaRPr lang="en-US" sz="1450" dirty="0"/>
          </a:p>
        </p:txBody>
      </p:sp>
      <p:sp>
        <p:nvSpPr>
          <p:cNvPr id="17" name="Text 13"/>
          <p:cNvSpPr txBox="1"/>
          <p:nvPr/>
        </p:nvSpPr>
        <p:spPr>
          <a:xfrm>
            <a:off x="1737360" y="3758184"/>
            <a:ext cx="2743200" cy="822960"/>
          </a:xfrm>
          <a:prstGeom prst="rect">
            <a:avLst/>
          </a:prstGeom>
          <a:noFill/>
          <a:ln/>
        </p:spPr>
        <p:txBody>
          <a:bodyPr wrap="square" lIns="0" tIns="0" rIns="0" bIns="0" rtlCol="0" anchor="ctr"/>
          <a:lstStyle/>
          <a:p>
            <a:pPr marL="0" indent="0">
              <a:buNone/>
            </a:pPr>
            <a:r>
              <a:rPr lang="en-US" sz="1150" i="1" dirty="0">
                <a:solidFill>
                  <a:srgbClr val="8891B0"/>
                </a:solidFill>
                <a:latin typeface="Calibri" pitchFamily="34" charset="0"/>
                <a:ea typeface="Calibri" pitchFamily="34" charset="-122"/>
                <a:cs typeface="Calibri" pitchFamily="34" charset="-120"/>
              </a:rPr>
              <a:t>Backend y worker de reconstrucción 3D</a:t>
            </a:r>
            <a:endParaRPr lang="en-US" sz="1150" dirty="0"/>
          </a:p>
        </p:txBody>
      </p:sp>
      <p:sp>
        <p:nvSpPr>
          <p:cNvPr id="18" name="Text 14"/>
          <p:cNvSpPr txBox="1"/>
          <p:nvPr/>
        </p:nvSpPr>
        <p:spPr>
          <a:xfrm>
            <a:off x="4617720" y="3429000"/>
            <a:ext cx="3291840" cy="365760"/>
          </a:xfrm>
          <a:prstGeom prst="rect">
            <a:avLst/>
          </a:prstGeom>
          <a:noFill/>
          <a:ln/>
        </p:spPr>
        <p:txBody>
          <a:bodyPr wrap="square" lIns="0" tIns="0" rIns="0" bIns="0" rtlCol="0" anchor="ctr"/>
          <a:lstStyle/>
          <a:p>
            <a:pPr marL="0" indent="0">
              <a:buNone/>
            </a:pPr>
            <a:r>
              <a:rPr lang="en-US" sz="1150" b="1" dirty="0">
                <a:solidFill>
                  <a:srgbClr val="FF8A3D"/>
                </a:solidFill>
                <a:latin typeface="Calibri" pitchFamily="34" charset="0"/>
                <a:ea typeface="Calibri" pitchFamily="34" charset="-122"/>
                <a:cs typeface="Calibri" pitchFamily="34" charset="-120"/>
              </a:rPr>
              <a:t>Competencia 4 — Desarrollar soluciones de software sistematizadas</a:t>
            </a:r>
            <a:endParaRPr lang="en-US" sz="1150" dirty="0"/>
          </a:p>
        </p:txBody>
      </p:sp>
      <p:sp>
        <p:nvSpPr>
          <p:cNvPr id="19" name="Text 15"/>
          <p:cNvSpPr txBox="1"/>
          <p:nvPr/>
        </p:nvSpPr>
        <p:spPr>
          <a:xfrm>
            <a:off x="4617720" y="3776472"/>
            <a:ext cx="3291840" cy="868680"/>
          </a:xfrm>
          <a:prstGeom prst="rect">
            <a:avLst/>
          </a:prstGeom>
          <a:noFill/>
          <a:ln/>
        </p:spPr>
        <p:txBody>
          <a:bodyPr wrap="square" lIns="0" tIns="0" rIns="0" bIns="0" rtlCol="0" anchor="ctr"/>
          <a:lstStyle/>
          <a:p>
            <a:pPr marL="0" indent="0">
              <a:lnSpc>
                <a:spcPct val="108000"/>
              </a:lnSpc>
              <a:buNone/>
            </a:pPr>
            <a:r>
              <a:rPr lang="en-US" sz="1080" dirty="0">
                <a:solidFill>
                  <a:srgbClr val="4A5578"/>
                </a:solidFill>
                <a:latin typeface="Calibri" pitchFamily="34" charset="0"/>
                <a:ea typeface="Calibri" pitchFamily="34" charset="-122"/>
                <a:cs typeface="Calibri" pitchFamily="34" charset="-120"/>
              </a:rPr>
              <a:t>Construcción e integración del backend NestJS y del pipeline de procesamiento Python (COLMAP + splatfacto).</a:t>
            </a:r>
            <a:endParaRPr lang="en-US" sz="1080" dirty="0"/>
          </a:p>
        </p:txBody>
      </p:sp>
      <p:sp>
        <p:nvSpPr>
          <p:cNvPr id="20" name="Text 16"/>
          <p:cNvSpPr txBox="1"/>
          <p:nvPr/>
        </p:nvSpPr>
        <p:spPr>
          <a:xfrm>
            <a:off x="8092440" y="3429000"/>
            <a:ext cx="3337560" cy="274320"/>
          </a:xfrm>
          <a:prstGeom prst="rect">
            <a:avLst/>
          </a:prstGeom>
          <a:noFill/>
          <a:ln/>
        </p:spPr>
        <p:txBody>
          <a:bodyPr wrap="square" lIns="0" tIns="0" rIns="0" bIns="0" rtlCol="0" anchor="ctr"/>
          <a:lstStyle/>
          <a:p>
            <a:pPr marL="0" indent="0">
              <a:buNone/>
            </a:pPr>
            <a:r>
              <a:rPr lang="en-US" sz="1000" b="1" kern="0" spc="100" dirty="0">
                <a:solidFill>
                  <a:srgbClr val="8891B0"/>
                </a:solidFill>
                <a:latin typeface="Calibri" pitchFamily="34" charset="0"/>
                <a:ea typeface="Calibri" pitchFamily="34" charset="-122"/>
                <a:cs typeface="Calibri" pitchFamily="34" charset="-120"/>
              </a:rPr>
              <a:t>Interés profesional</a:t>
            </a:r>
            <a:endParaRPr lang="en-US" sz="1000" dirty="0"/>
          </a:p>
        </p:txBody>
      </p:sp>
      <p:sp>
        <p:nvSpPr>
          <p:cNvPr id="21" name="Text 17"/>
          <p:cNvSpPr txBox="1"/>
          <p:nvPr/>
        </p:nvSpPr>
        <p:spPr>
          <a:xfrm>
            <a:off x="8092440" y="3703320"/>
            <a:ext cx="3337560" cy="914400"/>
          </a:xfrm>
          <a:prstGeom prst="rect">
            <a:avLst/>
          </a:prstGeom>
          <a:noFill/>
          <a:ln/>
        </p:spPr>
        <p:txBody>
          <a:bodyPr wrap="square" lIns="0" tIns="0" rIns="0" bIns="0" rtlCol="0" anchor="ctr"/>
          <a:lstStyle/>
          <a:p>
            <a:pPr marL="0" indent="0">
              <a:lnSpc>
                <a:spcPct val="110000"/>
              </a:lnSpc>
              <a:buNone/>
            </a:pPr>
            <a:r>
              <a:rPr lang="en-US" sz="1100" i="1" dirty="0">
                <a:solidFill>
                  <a:srgbClr val="4A5578"/>
                </a:solidFill>
                <a:latin typeface="Calibri" pitchFamily="34" charset="0"/>
                <a:ea typeface="Calibri" pitchFamily="34" charset="-122"/>
                <a:cs typeface="Calibri" pitchFamily="34" charset="-120"/>
              </a:rPr>
              <a:t>Profundizar en integración de sistemas y procesamiento de datos con Python.</a:t>
            </a:r>
            <a:endParaRPr lang="en-US" sz="1100" dirty="0"/>
          </a:p>
        </p:txBody>
      </p:sp>
      <p:sp>
        <p:nvSpPr>
          <p:cNvPr id="22" name="Shape 18"/>
          <p:cNvSpPr/>
          <p:nvPr/>
        </p:nvSpPr>
        <p:spPr>
          <a:xfrm>
            <a:off x="548640" y="4910328"/>
            <a:ext cx="11064240" cy="1481328"/>
          </a:xfrm>
          <a:prstGeom prst="roundRect">
            <a:avLst>
              <a:gd name="adj" fmla="val 6173"/>
            </a:avLst>
          </a:prstGeom>
          <a:solidFill>
            <a:srgbClr val="E9F0FD"/>
          </a:solidFill>
          <a:ln w="12700">
            <a:solidFill>
              <a:srgbClr val="E3E8F5"/>
            </a:solidFill>
            <a:prstDash val="solid"/>
          </a:ln>
        </p:spPr>
        <p:txBody>
          <a:bodyPr/>
          <a:lstStyle/>
          <a:p>
            <a:endParaRPr lang="es-CL"/>
          </a:p>
        </p:txBody>
      </p:sp>
      <p:sp>
        <p:nvSpPr>
          <p:cNvPr id="23" name="Shape 19"/>
          <p:cNvSpPr/>
          <p:nvPr/>
        </p:nvSpPr>
        <p:spPr>
          <a:xfrm>
            <a:off x="905256" y="5321808"/>
            <a:ext cx="658368" cy="658368"/>
          </a:xfrm>
          <a:prstGeom prst="ellipse">
            <a:avLst/>
          </a:prstGeom>
          <a:solidFill>
            <a:srgbClr val="1E2761"/>
          </a:solidFill>
          <a:ln/>
        </p:spPr>
        <p:txBody>
          <a:bodyPr/>
          <a:lstStyle/>
          <a:p>
            <a:endParaRPr lang="es-CL"/>
          </a:p>
        </p:txBody>
      </p:sp>
      <p:pic>
        <p:nvPicPr>
          <p:cNvPr id="24" name="Image 2" descr="ic_camera.png"/>
          <p:cNvPicPr>
            <a:picLocks noChangeAspect="1"/>
          </p:cNvPicPr>
          <p:nvPr/>
        </p:nvPicPr>
        <p:blipFill>
          <a:blip r:embed="rId5"/>
          <a:stretch>
            <a:fillRect/>
          </a:stretch>
        </p:blipFill>
        <p:spPr>
          <a:xfrm>
            <a:off x="1089599" y="5506151"/>
            <a:ext cx="289682" cy="289682"/>
          </a:xfrm>
          <a:prstGeom prst="rect">
            <a:avLst/>
          </a:prstGeom>
        </p:spPr>
      </p:pic>
      <p:sp>
        <p:nvSpPr>
          <p:cNvPr id="25" name="Text 20"/>
          <p:cNvSpPr txBox="1"/>
          <p:nvPr/>
        </p:nvSpPr>
        <p:spPr>
          <a:xfrm>
            <a:off x="1737360" y="5056632"/>
            <a:ext cx="2743200" cy="310896"/>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Lorna Zúñiga Aguilera</a:t>
            </a:r>
            <a:endParaRPr lang="en-US" sz="1450" dirty="0"/>
          </a:p>
        </p:txBody>
      </p:sp>
      <p:sp>
        <p:nvSpPr>
          <p:cNvPr id="26" name="Text 21"/>
          <p:cNvSpPr txBox="1"/>
          <p:nvPr/>
        </p:nvSpPr>
        <p:spPr>
          <a:xfrm>
            <a:off x="1737360" y="5367528"/>
            <a:ext cx="2743200" cy="822960"/>
          </a:xfrm>
          <a:prstGeom prst="rect">
            <a:avLst/>
          </a:prstGeom>
          <a:noFill/>
          <a:ln/>
        </p:spPr>
        <p:txBody>
          <a:bodyPr wrap="square" lIns="0" tIns="0" rIns="0" bIns="0" rtlCol="0" anchor="ctr"/>
          <a:lstStyle/>
          <a:p>
            <a:pPr marL="0" indent="0">
              <a:buNone/>
            </a:pPr>
            <a:r>
              <a:rPr lang="en-US" sz="1150" i="1" dirty="0">
                <a:solidFill>
                  <a:srgbClr val="8891B0"/>
                </a:solidFill>
                <a:latin typeface="Calibri" pitchFamily="34" charset="0"/>
                <a:ea typeface="Calibri" pitchFamily="34" charset="-122"/>
                <a:cs typeface="Calibri" pitchFamily="34" charset="-120"/>
              </a:rPr>
              <a:t>Frontend</a:t>
            </a:r>
            <a:endParaRPr lang="en-US" sz="1150" dirty="0"/>
          </a:p>
        </p:txBody>
      </p:sp>
      <p:sp>
        <p:nvSpPr>
          <p:cNvPr id="27" name="Text 22"/>
          <p:cNvSpPr txBox="1"/>
          <p:nvPr/>
        </p:nvSpPr>
        <p:spPr>
          <a:xfrm>
            <a:off x="4617720" y="5038344"/>
            <a:ext cx="3291840" cy="365760"/>
          </a:xfrm>
          <a:prstGeom prst="rect">
            <a:avLst/>
          </a:prstGeom>
          <a:noFill/>
          <a:ln/>
        </p:spPr>
        <p:txBody>
          <a:bodyPr wrap="square" lIns="0" tIns="0" rIns="0" bIns="0" rtlCol="0" anchor="ctr"/>
          <a:lstStyle/>
          <a:p>
            <a:pPr marL="0" indent="0">
              <a:buNone/>
            </a:pPr>
            <a:r>
              <a:rPr lang="en-US" sz="1150" b="1" dirty="0">
                <a:solidFill>
                  <a:srgbClr val="FF8A3D"/>
                </a:solidFill>
                <a:latin typeface="Calibri" pitchFamily="34" charset="0"/>
                <a:ea typeface="Calibri" pitchFamily="34" charset="-122"/>
                <a:cs typeface="Calibri" pitchFamily="34" charset="-120"/>
              </a:rPr>
              <a:t>Competencia 4 — Implantar componentes de una solución distribuida</a:t>
            </a:r>
            <a:endParaRPr lang="en-US" sz="1150" dirty="0"/>
          </a:p>
        </p:txBody>
      </p:sp>
      <p:sp>
        <p:nvSpPr>
          <p:cNvPr id="28" name="Text 23"/>
          <p:cNvSpPr txBox="1"/>
          <p:nvPr/>
        </p:nvSpPr>
        <p:spPr>
          <a:xfrm>
            <a:off x="4617720" y="5385816"/>
            <a:ext cx="3291840" cy="868680"/>
          </a:xfrm>
          <a:prstGeom prst="rect">
            <a:avLst/>
          </a:prstGeom>
          <a:noFill/>
          <a:ln/>
        </p:spPr>
        <p:txBody>
          <a:bodyPr wrap="square" lIns="0" tIns="0" rIns="0" bIns="0" rtlCol="0" anchor="ctr"/>
          <a:lstStyle/>
          <a:p>
            <a:pPr marL="0" indent="0">
              <a:lnSpc>
                <a:spcPct val="108000"/>
              </a:lnSpc>
              <a:buNone/>
            </a:pPr>
            <a:r>
              <a:rPr lang="en-US" sz="1080" dirty="0">
                <a:solidFill>
                  <a:srgbClr val="4A5578"/>
                </a:solidFill>
                <a:latin typeface="Calibri" pitchFamily="34" charset="0"/>
                <a:ea typeface="Calibri" pitchFamily="34" charset="-122"/>
                <a:cs typeface="Calibri" pitchFamily="34" charset="-120"/>
              </a:rPr>
              <a:t>Interfaz React, flujo de publicación por etapas y visor 3D interactivo embebido en el navegador.</a:t>
            </a:r>
            <a:endParaRPr lang="en-US" sz="1080" dirty="0"/>
          </a:p>
        </p:txBody>
      </p:sp>
      <p:sp>
        <p:nvSpPr>
          <p:cNvPr id="29" name="Text 24"/>
          <p:cNvSpPr txBox="1"/>
          <p:nvPr/>
        </p:nvSpPr>
        <p:spPr>
          <a:xfrm>
            <a:off x="8092440" y="5038344"/>
            <a:ext cx="3337560" cy="274320"/>
          </a:xfrm>
          <a:prstGeom prst="rect">
            <a:avLst/>
          </a:prstGeom>
          <a:noFill/>
          <a:ln/>
        </p:spPr>
        <p:txBody>
          <a:bodyPr wrap="square" lIns="0" tIns="0" rIns="0" bIns="0" rtlCol="0" anchor="ctr"/>
          <a:lstStyle/>
          <a:p>
            <a:pPr marL="0" indent="0">
              <a:buNone/>
            </a:pPr>
            <a:r>
              <a:rPr lang="en-US" sz="1000" b="1" kern="0" spc="100" dirty="0">
                <a:solidFill>
                  <a:srgbClr val="8891B0"/>
                </a:solidFill>
                <a:latin typeface="Calibri" pitchFamily="34" charset="0"/>
                <a:ea typeface="Calibri" pitchFamily="34" charset="-122"/>
                <a:cs typeface="Calibri" pitchFamily="34" charset="-120"/>
              </a:rPr>
              <a:t>Interés profesional</a:t>
            </a:r>
            <a:endParaRPr lang="en-US" sz="1000" dirty="0"/>
          </a:p>
        </p:txBody>
      </p:sp>
      <p:sp>
        <p:nvSpPr>
          <p:cNvPr id="30" name="Text 25"/>
          <p:cNvSpPr txBox="1"/>
          <p:nvPr/>
        </p:nvSpPr>
        <p:spPr>
          <a:xfrm>
            <a:off x="8092440" y="5312664"/>
            <a:ext cx="3337560" cy="914400"/>
          </a:xfrm>
          <a:prstGeom prst="rect">
            <a:avLst/>
          </a:prstGeom>
          <a:noFill/>
          <a:ln/>
        </p:spPr>
        <p:txBody>
          <a:bodyPr wrap="square" lIns="0" tIns="0" rIns="0" bIns="0" rtlCol="0" anchor="ctr"/>
          <a:lstStyle/>
          <a:p>
            <a:pPr marL="0" indent="0">
              <a:lnSpc>
                <a:spcPct val="110000"/>
              </a:lnSpc>
              <a:buNone/>
            </a:pPr>
            <a:r>
              <a:rPr lang="en-US" sz="1100" i="1" dirty="0">
                <a:solidFill>
                  <a:srgbClr val="4A5578"/>
                </a:solidFill>
                <a:latin typeface="Calibri" pitchFamily="34" charset="0"/>
                <a:ea typeface="Calibri" pitchFamily="34" charset="-122"/>
                <a:cs typeface="Calibri" pitchFamily="34" charset="-120"/>
              </a:rPr>
              <a:t>Profundizar en experiencia de usuario y visualización interactiva.</a:t>
            </a:r>
            <a:endParaRPr lang="en-US" sz="1100" dirty="0"/>
          </a:p>
        </p:txBody>
      </p:sp>
      <p:sp>
        <p:nvSpPr>
          <p:cNvPr id="31" name="Text 26"/>
          <p:cNvSpPr txBox="1"/>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8891B0"/>
                </a:solidFill>
                <a:latin typeface="Calibri" pitchFamily="34" charset="0"/>
                <a:ea typeface="Calibri" pitchFamily="34" charset="-122"/>
                <a:cs typeface="Calibri" pitchFamily="34" charset="-120"/>
              </a:rPr>
              <a:t>AutoSplat · Fase 1</a:t>
            </a:r>
            <a:endParaRPr lang="en-US" sz="900" dirty="0"/>
          </a:p>
        </p:txBody>
      </p:sp>
      <p:sp>
        <p:nvSpPr>
          <p:cNvPr id="32" name="Text 27"/>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lgn="l">
              <a:buNone/>
            </a:pPr>
            <a:r>
              <a:rPr lang="en-US" sz="1250" b="1" kern="0" spc="200" dirty="0">
                <a:solidFill>
                  <a:srgbClr val="FF8A3D"/>
                </a:solidFill>
                <a:latin typeface="Calibri" pitchFamily="34" charset="0"/>
                <a:ea typeface="Calibri" pitchFamily="34" charset="-122"/>
                <a:cs typeface="Calibri" pitchFamily="34" charset="-120"/>
              </a:rPr>
              <a:t>IE 5 · OBJETIVOS DISCIPLINARES</a:t>
            </a:r>
            <a:endParaRPr lang="en-US" sz="1250" dirty="0"/>
          </a:p>
        </p:txBody>
      </p:sp>
      <p:sp>
        <p:nvSpPr>
          <p:cNvPr id="3" name="Text 1"/>
          <p:cNvSpPr txBox="1"/>
          <p:nvPr/>
        </p:nvSpPr>
        <p:spPr>
          <a:xfrm>
            <a:off x="548640" y="658368"/>
            <a:ext cx="10607040" cy="77724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Objetivo general y objetivos específicos</a:t>
            </a:r>
            <a:endParaRPr lang="en-US" sz="3200" dirty="0"/>
          </a:p>
        </p:txBody>
      </p:sp>
      <p:sp>
        <p:nvSpPr>
          <p:cNvPr id="4" name="Shape 2"/>
          <p:cNvSpPr/>
          <p:nvPr/>
        </p:nvSpPr>
        <p:spPr>
          <a:xfrm>
            <a:off x="548640" y="1645920"/>
            <a:ext cx="11064240" cy="1051560"/>
          </a:xfrm>
          <a:prstGeom prst="roundRect">
            <a:avLst>
              <a:gd name="adj" fmla="val 8696"/>
            </a:avLst>
          </a:prstGeom>
          <a:solidFill>
            <a:srgbClr val="1E2761"/>
          </a:solidFill>
          <a:ln/>
        </p:spPr>
        <p:txBody>
          <a:bodyPr/>
          <a:lstStyle/>
          <a:p>
            <a:endParaRPr lang="es-CL"/>
          </a:p>
        </p:txBody>
      </p:sp>
      <p:sp>
        <p:nvSpPr>
          <p:cNvPr id="5" name="Text 3"/>
          <p:cNvSpPr txBox="1"/>
          <p:nvPr/>
        </p:nvSpPr>
        <p:spPr>
          <a:xfrm>
            <a:off x="868680" y="1783080"/>
            <a:ext cx="2743200" cy="274320"/>
          </a:xfrm>
          <a:prstGeom prst="rect">
            <a:avLst/>
          </a:prstGeom>
          <a:noFill/>
          <a:ln/>
        </p:spPr>
        <p:txBody>
          <a:bodyPr wrap="square" lIns="0" tIns="0" rIns="0" bIns="0" rtlCol="0" anchor="ctr"/>
          <a:lstStyle/>
          <a:p>
            <a:pPr marL="0" indent="0">
              <a:buNone/>
            </a:pPr>
            <a:r>
              <a:rPr lang="en-US" sz="1050" b="1" kern="0" spc="200" dirty="0">
                <a:solidFill>
                  <a:srgbClr val="FF8A3D"/>
                </a:solidFill>
                <a:latin typeface="Calibri" pitchFamily="34" charset="0"/>
                <a:ea typeface="Calibri" pitchFamily="34" charset="-122"/>
                <a:cs typeface="Calibri" pitchFamily="34" charset="-120"/>
              </a:rPr>
              <a:t>OBJETIVO GENERAL</a:t>
            </a:r>
            <a:endParaRPr lang="en-US" sz="1050" dirty="0"/>
          </a:p>
        </p:txBody>
      </p:sp>
      <p:sp>
        <p:nvSpPr>
          <p:cNvPr id="6" name="Text 4"/>
          <p:cNvSpPr txBox="1"/>
          <p:nvPr/>
        </p:nvSpPr>
        <p:spPr>
          <a:xfrm>
            <a:off x="868680" y="2048256"/>
            <a:ext cx="10424160" cy="566928"/>
          </a:xfrm>
          <a:prstGeom prst="rect">
            <a:avLst/>
          </a:prstGeom>
          <a:noFill/>
          <a:ln/>
        </p:spPr>
        <p:txBody>
          <a:bodyPr wrap="square" lIns="0" tIns="0" rIns="0" bIns="0" rtlCol="0" anchor="ctr"/>
          <a:lstStyle/>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Desarrollar y desplegar una plataforma web de compraventa de vehículos usados que incorpore visualización 3D interactiva generada automáticamente mediante Gaussian Splatting, reduciendo la incertidumbre del comprador y las visitas presenciales.</a:t>
            </a:r>
            <a:endParaRPr lang="en-US" sz="1250" dirty="0"/>
          </a:p>
        </p:txBody>
      </p:sp>
      <p:sp>
        <p:nvSpPr>
          <p:cNvPr id="7" name="Shape 5"/>
          <p:cNvSpPr/>
          <p:nvPr/>
        </p:nvSpPr>
        <p:spPr>
          <a:xfrm>
            <a:off x="548640" y="2971800"/>
            <a:ext cx="3566160" cy="1298448"/>
          </a:xfrm>
          <a:prstGeom prst="roundRect">
            <a:avLst>
              <a:gd name="adj" fmla="val 7042"/>
            </a:avLst>
          </a:prstGeom>
          <a:solidFill>
            <a:srgbClr val="E9F0FD"/>
          </a:solidFill>
          <a:ln/>
        </p:spPr>
        <p:txBody>
          <a:bodyPr/>
          <a:lstStyle/>
          <a:p>
            <a:endParaRPr lang="es-CL"/>
          </a:p>
        </p:txBody>
      </p:sp>
      <p:sp>
        <p:nvSpPr>
          <p:cNvPr id="8" name="Shape 6"/>
          <p:cNvSpPr/>
          <p:nvPr/>
        </p:nvSpPr>
        <p:spPr>
          <a:xfrm>
            <a:off x="768096" y="3337560"/>
            <a:ext cx="566928" cy="566928"/>
          </a:xfrm>
          <a:prstGeom prst="ellipse">
            <a:avLst/>
          </a:prstGeom>
          <a:solidFill>
            <a:srgbClr val="1E2761"/>
          </a:solidFill>
          <a:ln/>
        </p:spPr>
        <p:txBody>
          <a:bodyPr/>
          <a:lstStyle/>
          <a:p>
            <a:endParaRPr lang="es-CL"/>
          </a:p>
        </p:txBody>
      </p:sp>
      <p:pic>
        <p:nvPicPr>
          <p:cNvPr id="9" name="Image 0" descr="ic_clipboard.png"/>
          <p:cNvPicPr>
            <a:picLocks noChangeAspect="1"/>
          </p:cNvPicPr>
          <p:nvPr/>
        </p:nvPicPr>
        <p:blipFill>
          <a:blip r:embed="rId3"/>
          <a:stretch>
            <a:fillRect/>
          </a:stretch>
        </p:blipFill>
        <p:spPr>
          <a:xfrm>
            <a:off x="926836" y="3496300"/>
            <a:ext cx="249448" cy="249448"/>
          </a:xfrm>
          <a:prstGeom prst="rect">
            <a:avLst/>
          </a:prstGeom>
        </p:spPr>
      </p:pic>
      <p:sp>
        <p:nvSpPr>
          <p:cNvPr id="10" name="Text 7"/>
          <p:cNvSpPr txBox="1"/>
          <p:nvPr/>
        </p:nvSpPr>
        <p:spPr>
          <a:xfrm>
            <a:off x="1417320" y="3081528"/>
            <a:ext cx="2560320" cy="274320"/>
          </a:xfrm>
          <a:prstGeom prst="rect">
            <a:avLst/>
          </a:prstGeom>
          <a:noFill/>
          <a:ln/>
        </p:spPr>
        <p:txBody>
          <a:bodyPr wrap="square" lIns="0" tIns="0" rIns="0" bIns="0" rtlCol="0" anchor="ctr"/>
          <a:lstStyle/>
          <a:p>
            <a:pPr marL="0" indent="0">
              <a:buNone/>
            </a:pPr>
            <a:r>
              <a:rPr lang="en-US" sz="1100" b="1" dirty="0">
                <a:solidFill>
                  <a:srgbClr val="FF8A3D"/>
                </a:solidFill>
                <a:latin typeface="Calibri" pitchFamily="34" charset="0"/>
                <a:ea typeface="Calibri" pitchFamily="34" charset="-122"/>
                <a:cs typeface="Calibri" pitchFamily="34" charset="-120"/>
              </a:rPr>
              <a:t>OE-01</a:t>
            </a:r>
            <a:endParaRPr lang="en-US" sz="1100" dirty="0"/>
          </a:p>
        </p:txBody>
      </p:sp>
      <p:sp>
        <p:nvSpPr>
          <p:cNvPr id="11" name="Text 8"/>
          <p:cNvSpPr txBox="1"/>
          <p:nvPr/>
        </p:nvSpPr>
        <p:spPr>
          <a:xfrm>
            <a:off x="1417320" y="3355848"/>
            <a:ext cx="2514600" cy="795528"/>
          </a:xfrm>
          <a:prstGeom prst="rect">
            <a:avLst/>
          </a:prstGeom>
          <a:noFill/>
          <a:ln/>
        </p:spPr>
        <p:txBody>
          <a:bodyPr wrap="square" lIns="0" tIns="0" rIns="0" bIns="0" rtlCol="0" anchor="ctr"/>
          <a:lstStyle/>
          <a:p>
            <a:pPr marL="0" indent="0">
              <a:lnSpc>
                <a:spcPct val="108000"/>
              </a:lnSpc>
              <a:buNone/>
            </a:pPr>
            <a:r>
              <a:rPr lang="en-US" sz="1080" dirty="0">
                <a:solidFill>
                  <a:srgbClr val="4A5578"/>
                </a:solidFill>
                <a:latin typeface="Calibri" pitchFamily="34" charset="0"/>
                <a:ea typeface="Calibri" pitchFamily="34" charset="-122"/>
                <a:cs typeface="Calibri" pitchFamily="34" charset="-120"/>
              </a:rPr>
              <a:t>Especificar y modelar la solución conforme a estándares de ingeniería de software.</a:t>
            </a:r>
            <a:endParaRPr lang="en-US" sz="1080" dirty="0"/>
          </a:p>
        </p:txBody>
      </p:sp>
      <p:sp>
        <p:nvSpPr>
          <p:cNvPr id="12" name="Shape 9"/>
          <p:cNvSpPr/>
          <p:nvPr/>
        </p:nvSpPr>
        <p:spPr>
          <a:xfrm>
            <a:off x="4297680" y="2971800"/>
            <a:ext cx="3566160" cy="1298448"/>
          </a:xfrm>
          <a:prstGeom prst="roundRect">
            <a:avLst>
              <a:gd name="adj" fmla="val 7042"/>
            </a:avLst>
          </a:prstGeom>
          <a:solidFill>
            <a:srgbClr val="E9F0FD"/>
          </a:solidFill>
          <a:ln/>
        </p:spPr>
        <p:txBody>
          <a:bodyPr/>
          <a:lstStyle/>
          <a:p>
            <a:endParaRPr lang="es-CL"/>
          </a:p>
        </p:txBody>
      </p:sp>
      <p:sp>
        <p:nvSpPr>
          <p:cNvPr id="13" name="Shape 10"/>
          <p:cNvSpPr/>
          <p:nvPr/>
        </p:nvSpPr>
        <p:spPr>
          <a:xfrm>
            <a:off x="4517136" y="3337560"/>
            <a:ext cx="566928" cy="566928"/>
          </a:xfrm>
          <a:prstGeom prst="ellipse">
            <a:avLst/>
          </a:prstGeom>
          <a:solidFill>
            <a:srgbClr val="1E2761"/>
          </a:solidFill>
          <a:ln/>
        </p:spPr>
        <p:txBody>
          <a:bodyPr/>
          <a:lstStyle/>
          <a:p>
            <a:endParaRPr lang="es-CL"/>
          </a:p>
        </p:txBody>
      </p:sp>
      <p:pic>
        <p:nvPicPr>
          <p:cNvPr id="14" name="Image 1" descr="ic_layers.png"/>
          <p:cNvPicPr>
            <a:picLocks noChangeAspect="1"/>
          </p:cNvPicPr>
          <p:nvPr/>
        </p:nvPicPr>
        <p:blipFill>
          <a:blip r:embed="rId4"/>
          <a:stretch>
            <a:fillRect/>
          </a:stretch>
        </p:blipFill>
        <p:spPr>
          <a:xfrm>
            <a:off x="4675876" y="3496300"/>
            <a:ext cx="249448" cy="249448"/>
          </a:xfrm>
          <a:prstGeom prst="rect">
            <a:avLst/>
          </a:prstGeom>
        </p:spPr>
      </p:pic>
      <p:sp>
        <p:nvSpPr>
          <p:cNvPr id="15" name="Text 11"/>
          <p:cNvSpPr txBox="1"/>
          <p:nvPr/>
        </p:nvSpPr>
        <p:spPr>
          <a:xfrm>
            <a:off x="5166360" y="3081528"/>
            <a:ext cx="2560320" cy="274320"/>
          </a:xfrm>
          <a:prstGeom prst="rect">
            <a:avLst/>
          </a:prstGeom>
          <a:noFill/>
          <a:ln/>
        </p:spPr>
        <p:txBody>
          <a:bodyPr wrap="square" lIns="0" tIns="0" rIns="0" bIns="0" rtlCol="0" anchor="ctr"/>
          <a:lstStyle/>
          <a:p>
            <a:pPr marL="0" indent="0">
              <a:buNone/>
            </a:pPr>
            <a:r>
              <a:rPr lang="en-US" sz="1100" b="1" dirty="0">
                <a:solidFill>
                  <a:srgbClr val="FF8A3D"/>
                </a:solidFill>
                <a:latin typeface="Calibri" pitchFamily="34" charset="0"/>
                <a:ea typeface="Calibri" pitchFamily="34" charset="-122"/>
                <a:cs typeface="Calibri" pitchFamily="34" charset="-120"/>
              </a:rPr>
              <a:t>OE-02</a:t>
            </a:r>
            <a:endParaRPr lang="en-US" sz="1100" dirty="0"/>
          </a:p>
        </p:txBody>
      </p:sp>
      <p:sp>
        <p:nvSpPr>
          <p:cNvPr id="16" name="Text 12"/>
          <p:cNvSpPr txBox="1"/>
          <p:nvPr/>
        </p:nvSpPr>
        <p:spPr>
          <a:xfrm>
            <a:off x="5166360" y="3355848"/>
            <a:ext cx="2514600" cy="795528"/>
          </a:xfrm>
          <a:prstGeom prst="rect">
            <a:avLst/>
          </a:prstGeom>
          <a:noFill/>
          <a:ln/>
        </p:spPr>
        <p:txBody>
          <a:bodyPr wrap="square" lIns="0" tIns="0" rIns="0" bIns="0" rtlCol="0" anchor="ctr"/>
          <a:lstStyle/>
          <a:p>
            <a:pPr marL="0" indent="0">
              <a:lnSpc>
                <a:spcPct val="108000"/>
              </a:lnSpc>
              <a:buNone/>
            </a:pPr>
            <a:r>
              <a:rPr lang="en-US" sz="1080" dirty="0">
                <a:solidFill>
                  <a:srgbClr val="4A5578"/>
                </a:solidFill>
                <a:latin typeface="Calibri" pitchFamily="34" charset="0"/>
                <a:ea typeface="Calibri" pitchFamily="34" charset="-122"/>
                <a:cs typeface="Calibri" pitchFamily="34" charset="-120"/>
              </a:rPr>
              <a:t>Construir el núcleo transaccional: cuentas, publicaciones y catálogo con búsqueda.</a:t>
            </a:r>
            <a:endParaRPr lang="en-US" sz="1080" dirty="0"/>
          </a:p>
        </p:txBody>
      </p:sp>
      <p:sp>
        <p:nvSpPr>
          <p:cNvPr id="17" name="Shape 13"/>
          <p:cNvSpPr/>
          <p:nvPr/>
        </p:nvSpPr>
        <p:spPr>
          <a:xfrm>
            <a:off x="8046720" y="2971800"/>
            <a:ext cx="3566160" cy="1298448"/>
          </a:xfrm>
          <a:prstGeom prst="roundRect">
            <a:avLst>
              <a:gd name="adj" fmla="val 7042"/>
            </a:avLst>
          </a:prstGeom>
          <a:solidFill>
            <a:srgbClr val="E9F0FD"/>
          </a:solidFill>
          <a:ln/>
        </p:spPr>
        <p:txBody>
          <a:bodyPr/>
          <a:lstStyle/>
          <a:p>
            <a:endParaRPr lang="es-CL"/>
          </a:p>
        </p:txBody>
      </p:sp>
      <p:sp>
        <p:nvSpPr>
          <p:cNvPr id="18" name="Shape 14"/>
          <p:cNvSpPr/>
          <p:nvPr/>
        </p:nvSpPr>
        <p:spPr>
          <a:xfrm>
            <a:off x="8266176" y="3337560"/>
            <a:ext cx="566928" cy="566928"/>
          </a:xfrm>
          <a:prstGeom prst="ellipse">
            <a:avLst/>
          </a:prstGeom>
          <a:solidFill>
            <a:srgbClr val="1E2761"/>
          </a:solidFill>
          <a:ln/>
        </p:spPr>
        <p:txBody>
          <a:bodyPr/>
          <a:lstStyle/>
          <a:p>
            <a:endParaRPr lang="es-CL"/>
          </a:p>
        </p:txBody>
      </p:sp>
      <p:pic>
        <p:nvPicPr>
          <p:cNvPr id="19" name="Image 2" descr="ic_cubes.png"/>
          <p:cNvPicPr>
            <a:picLocks noChangeAspect="1"/>
          </p:cNvPicPr>
          <p:nvPr/>
        </p:nvPicPr>
        <p:blipFill>
          <a:blip r:embed="rId5"/>
          <a:stretch>
            <a:fillRect/>
          </a:stretch>
        </p:blipFill>
        <p:spPr>
          <a:xfrm>
            <a:off x="8424916" y="3496300"/>
            <a:ext cx="249448" cy="249448"/>
          </a:xfrm>
          <a:prstGeom prst="rect">
            <a:avLst/>
          </a:prstGeom>
        </p:spPr>
      </p:pic>
      <p:sp>
        <p:nvSpPr>
          <p:cNvPr id="20" name="Text 15"/>
          <p:cNvSpPr txBox="1"/>
          <p:nvPr/>
        </p:nvSpPr>
        <p:spPr>
          <a:xfrm>
            <a:off x="8915400" y="3081528"/>
            <a:ext cx="2560320" cy="274320"/>
          </a:xfrm>
          <a:prstGeom prst="rect">
            <a:avLst/>
          </a:prstGeom>
          <a:noFill/>
          <a:ln/>
        </p:spPr>
        <p:txBody>
          <a:bodyPr wrap="square" lIns="0" tIns="0" rIns="0" bIns="0" rtlCol="0" anchor="ctr"/>
          <a:lstStyle/>
          <a:p>
            <a:pPr marL="0" indent="0">
              <a:buNone/>
            </a:pPr>
            <a:r>
              <a:rPr lang="en-US" sz="1100" b="1" dirty="0">
                <a:solidFill>
                  <a:srgbClr val="FF8A3D"/>
                </a:solidFill>
                <a:latin typeface="Calibri" pitchFamily="34" charset="0"/>
                <a:ea typeface="Calibri" pitchFamily="34" charset="-122"/>
                <a:cs typeface="Calibri" pitchFamily="34" charset="-120"/>
              </a:rPr>
              <a:t>OE-03</a:t>
            </a:r>
            <a:endParaRPr lang="en-US" sz="1100" dirty="0"/>
          </a:p>
        </p:txBody>
      </p:sp>
      <p:sp>
        <p:nvSpPr>
          <p:cNvPr id="21" name="Text 16"/>
          <p:cNvSpPr txBox="1"/>
          <p:nvPr/>
        </p:nvSpPr>
        <p:spPr>
          <a:xfrm>
            <a:off x="8915400" y="3355848"/>
            <a:ext cx="2514600" cy="795528"/>
          </a:xfrm>
          <a:prstGeom prst="rect">
            <a:avLst/>
          </a:prstGeom>
          <a:noFill/>
          <a:ln/>
        </p:spPr>
        <p:txBody>
          <a:bodyPr wrap="square" lIns="0" tIns="0" rIns="0" bIns="0" rtlCol="0" anchor="ctr"/>
          <a:lstStyle/>
          <a:p>
            <a:pPr marL="0" indent="0">
              <a:lnSpc>
                <a:spcPct val="108000"/>
              </a:lnSpc>
              <a:buNone/>
            </a:pPr>
            <a:r>
              <a:rPr lang="en-US" sz="1080" dirty="0">
                <a:solidFill>
                  <a:srgbClr val="4A5578"/>
                </a:solidFill>
                <a:latin typeface="Calibri" pitchFamily="34" charset="0"/>
                <a:ea typeface="Calibri" pitchFamily="34" charset="-122"/>
                <a:cs typeface="Calibri" pitchFamily="34" charset="-120"/>
              </a:rPr>
              <a:t>Implementar el pipeline de reconstrucción 3D sobre GPU bajo demanda.</a:t>
            </a:r>
            <a:endParaRPr lang="en-US" sz="1080" dirty="0"/>
          </a:p>
        </p:txBody>
      </p:sp>
      <p:sp>
        <p:nvSpPr>
          <p:cNvPr id="22" name="Shape 17"/>
          <p:cNvSpPr/>
          <p:nvPr/>
        </p:nvSpPr>
        <p:spPr>
          <a:xfrm>
            <a:off x="548640" y="4453128"/>
            <a:ext cx="3566160" cy="1298448"/>
          </a:xfrm>
          <a:prstGeom prst="roundRect">
            <a:avLst>
              <a:gd name="adj" fmla="val 7042"/>
            </a:avLst>
          </a:prstGeom>
          <a:solidFill>
            <a:srgbClr val="E9F0FD"/>
          </a:solidFill>
          <a:ln/>
        </p:spPr>
        <p:txBody>
          <a:bodyPr/>
          <a:lstStyle/>
          <a:p>
            <a:endParaRPr lang="es-CL"/>
          </a:p>
        </p:txBody>
      </p:sp>
      <p:sp>
        <p:nvSpPr>
          <p:cNvPr id="23" name="Shape 18"/>
          <p:cNvSpPr/>
          <p:nvPr/>
        </p:nvSpPr>
        <p:spPr>
          <a:xfrm>
            <a:off x="768096" y="4818888"/>
            <a:ext cx="566928" cy="566928"/>
          </a:xfrm>
          <a:prstGeom prst="ellipse">
            <a:avLst/>
          </a:prstGeom>
          <a:solidFill>
            <a:srgbClr val="1E2761"/>
          </a:solidFill>
          <a:ln/>
        </p:spPr>
        <p:txBody>
          <a:bodyPr/>
          <a:lstStyle/>
          <a:p>
            <a:endParaRPr lang="es-CL"/>
          </a:p>
        </p:txBody>
      </p:sp>
      <p:pic>
        <p:nvPicPr>
          <p:cNvPr id="24" name="Image 3" descr="ic_eye.png"/>
          <p:cNvPicPr>
            <a:picLocks noChangeAspect="1"/>
          </p:cNvPicPr>
          <p:nvPr/>
        </p:nvPicPr>
        <p:blipFill>
          <a:blip r:embed="rId6"/>
          <a:stretch>
            <a:fillRect/>
          </a:stretch>
        </p:blipFill>
        <p:spPr>
          <a:xfrm>
            <a:off x="926836" y="4977628"/>
            <a:ext cx="249448" cy="249448"/>
          </a:xfrm>
          <a:prstGeom prst="rect">
            <a:avLst/>
          </a:prstGeom>
        </p:spPr>
      </p:pic>
      <p:sp>
        <p:nvSpPr>
          <p:cNvPr id="25" name="Text 19"/>
          <p:cNvSpPr txBox="1"/>
          <p:nvPr/>
        </p:nvSpPr>
        <p:spPr>
          <a:xfrm>
            <a:off x="1417320" y="4562856"/>
            <a:ext cx="2560320" cy="274320"/>
          </a:xfrm>
          <a:prstGeom prst="rect">
            <a:avLst/>
          </a:prstGeom>
          <a:noFill/>
          <a:ln/>
        </p:spPr>
        <p:txBody>
          <a:bodyPr wrap="square" lIns="0" tIns="0" rIns="0" bIns="0" rtlCol="0" anchor="ctr"/>
          <a:lstStyle/>
          <a:p>
            <a:pPr marL="0" indent="0">
              <a:buNone/>
            </a:pPr>
            <a:r>
              <a:rPr lang="en-US" sz="1100" b="1" dirty="0">
                <a:solidFill>
                  <a:srgbClr val="FF8A3D"/>
                </a:solidFill>
                <a:latin typeface="Calibri" pitchFamily="34" charset="0"/>
                <a:ea typeface="Calibri" pitchFamily="34" charset="-122"/>
                <a:cs typeface="Calibri" pitchFamily="34" charset="-120"/>
              </a:rPr>
              <a:t>OE-04</a:t>
            </a:r>
            <a:endParaRPr lang="en-US" sz="1100" dirty="0"/>
          </a:p>
        </p:txBody>
      </p:sp>
      <p:sp>
        <p:nvSpPr>
          <p:cNvPr id="26" name="Text 20"/>
          <p:cNvSpPr txBox="1"/>
          <p:nvPr/>
        </p:nvSpPr>
        <p:spPr>
          <a:xfrm>
            <a:off x="1417320" y="4837176"/>
            <a:ext cx="2514600" cy="795528"/>
          </a:xfrm>
          <a:prstGeom prst="rect">
            <a:avLst/>
          </a:prstGeom>
          <a:noFill/>
          <a:ln/>
        </p:spPr>
        <p:txBody>
          <a:bodyPr wrap="square" lIns="0" tIns="0" rIns="0" bIns="0" rtlCol="0" anchor="ctr"/>
          <a:lstStyle/>
          <a:p>
            <a:pPr marL="0" indent="0">
              <a:lnSpc>
                <a:spcPct val="108000"/>
              </a:lnSpc>
              <a:buNone/>
            </a:pPr>
            <a:r>
              <a:rPr lang="en-US" sz="1080" dirty="0">
                <a:solidFill>
                  <a:srgbClr val="4A5578"/>
                </a:solidFill>
                <a:latin typeface="Calibri" pitchFamily="34" charset="0"/>
                <a:ea typeface="Calibri" pitchFamily="34" charset="-122"/>
                <a:cs typeface="Calibri" pitchFamily="34" charset="-120"/>
              </a:rPr>
              <a:t>Integrar un visor 3D con rendimiento aceptable en equipos de gama media.</a:t>
            </a:r>
            <a:endParaRPr lang="en-US" sz="1080" dirty="0"/>
          </a:p>
        </p:txBody>
      </p:sp>
      <p:sp>
        <p:nvSpPr>
          <p:cNvPr id="27" name="Shape 21"/>
          <p:cNvSpPr/>
          <p:nvPr/>
        </p:nvSpPr>
        <p:spPr>
          <a:xfrm>
            <a:off x="4297680" y="4453128"/>
            <a:ext cx="3566160" cy="1298448"/>
          </a:xfrm>
          <a:prstGeom prst="roundRect">
            <a:avLst>
              <a:gd name="adj" fmla="val 7042"/>
            </a:avLst>
          </a:prstGeom>
          <a:solidFill>
            <a:srgbClr val="E9F0FD"/>
          </a:solidFill>
          <a:ln/>
        </p:spPr>
        <p:txBody>
          <a:bodyPr/>
          <a:lstStyle/>
          <a:p>
            <a:endParaRPr lang="es-CL"/>
          </a:p>
        </p:txBody>
      </p:sp>
      <p:sp>
        <p:nvSpPr>
          <p:cNvPr id="28" name="Shape 22"/>
          <p:cNvSpPr/>
          <p:nvPr/>
        </p:nvSpPr>
        <p:spPr>
          <a:xfrm>
            <a:off x="4517136" y="4818888"/>
            <a:ext cx="566928" cy="566928"/>
          </a:xfrm>
          <a:prstGeom prst="ellipse">
            <a:avLst/>
          </a:prstGeom>
          <a:solidFill>
            <a:srgbClr val="1E2761"/>
          </a:solidFill>
          <a:ln/>
        </p:spPr>
        <p:txBody>
          <a:bodyPr/>
          <a:lstStyle/>
          <a:p>
            <a:endParaRPr lang="es-CL"/>
          </a:p>
        </p:txBody>
      </p:sp>
      <p:pic>
        <p:nvPicPr>
          <p:cNvPr id="29" name="Image 4" descr="ic_shield.png"/>
          <p:cNvPicPr>
            <a:picLocks noChangeAspect="1"/>
          </p:cNvPicPr>
          <p:nvPr/>
        </p:nvPicPr>
        <p:blipFill>
          <a:blip r:embed="rId7"/>
          <a:stretch>
            <a:fillRect/>
          </a:stretch>
        </p:blipFill>
        <p:spPr>
          <a:xfrm>
            <a:off x="4675876" y="4977628"/>
            <a:ext cx="249448" cy="249448"/>
          </a:xfrm>
          <a:prstGeom prst="rect">
            <a:avLst/>
          </a:prstGeom>
        </p:spPr>
      </p:pic>
      <p:sp>
        <p:nvSpPr>
          <p:cNvPr id="30" name="Text 23"/>
          <p:cNvSpPr txBox="1"/>
          <p:nvPr/>
        </p:nvSpPr>
        <p:spPr>
          <a:xfrm>
            <a:off x="5166360" y="4562856"/>
            <a:ext cx="2560320" cy="274320"/>
          </a:xfrm>
          <a:prstGeom prst="rect">
            <a:avLst/>
          </a:prstGeom>
          <a:noFill/>
          <a:ln/>
        </p:spPr>
        <p:txBody>
          <a:bodyPr wrap="square" lIns="0" tIns="0" rIns="0" bIns="0" rtlCol="0" anchor="ctr"/>
          <a:lstStyle/>
          <a:p>
            <a:pPr marL="0" indent="0">
              <a:buNone/>
            </a:pPr>
            <a:r>
              <a:rPr lang="en-US" sz="1100" b="1" dirty="0">
                <a:solidFill>
                  <a:srgbClr val="FF8A3D"/>
                </a:solidFill>
                <a:latin typeface="Calibri" pitchFamily="34" charset="0"/>
                <a:ea typeface="Calibri" pitchFamily="34" charset="-122"/>
                <a:cs typeface="Calibri" pitchFamily="34" charset="-120"/>
              </a:rPr>
              <a:t>OE-05</a:t>
            </a:r>
            <a:endParaRPr lang="en-US" sz="1100" dirty="0"/>
          </a:p>
        </p:txBody>
      </p:sp>
      <p:sp>
        <p:nvSpPr>
          <p:cNvPr id="31" name="Text 24"/>
          <p:cNvSpPr txBox="1"/>
          <p:nvPr/>
        </p:nvSpPr>
        <p:spPr>
          <a:xfrm>
            <a:off x="5166360" y="4837176"/>
            <a:ext cx="2514600" cy="795528"/>
          </a:xfrm>
          <a:prstGeom prst="rect">
            <a:avLst/>
          </a:prstGeom>
          <a:noFill/>
          <a:ln/>
        </p:spPr>
        <p:txBody>
          <a:bodyPr wrap="square" lIns="0" tIns="0" rIns="0" bIns="0" rtlCol="0" anchor="ctr"/>
          <a:lstStyle/>
          <a:p>
            <a:pPr marL="0" indent="0">
              <a:lnSpc>
                <a:spcPct val="108000"/>
              </a:lnSpc>
              <a:buNone/>
            </a:pPr>
            <a:r>
              <a:rPr lang="en-US" sz="1080" dirty="0">
                <a:solidFill>
                  <a:srgbClr val="4A5578"/>
                </a:solidFill>
                <a:latin typeface="Calibri" pitchFamily="34" charset="0"/>
                <a:ea typeface="Calibri" pitchFamily="34" charset="-122"/>
                <a:cs typeface="Calibri" pitchFamily="34" charset="-120"/>
              </a:rPr>
              <a:t>Asegurar la calidad, la seguridad y la mantenibilidad de la solución.</a:t>
            </a:r>
            <a:endParaRPr lang="en-US" sz="1080" dirty="0"/>
          </a:p>
        </p:txBody>
      </p:sp>
      <p:sp>
        <p:nvSpPr>
          <p:cNvPr id="32" name="Shape 25"/>
          <p:cNvSpPr/>
          <p:nvPr/>
        </p:nvSpPr>
        <p:spPr>
          <a:xfrm>
            <a:off x="8046720" y="4453128"/>
            <a:ext cx="3566160" cy="1298448"/>
          </a:xfrm>
          <a:prstGeom prst="roundRect">
            <a:avLst>
              <a:gd name="adj" fmla="val 7042"/>
            </a:avLst>
          </a:prstGeom>
          <a:solidFill>
            <a:srgbClr val="E9F0FD"/>
          </a:solidFill>
          <a:ln/>
        </p:spPr>
        <p:txBody>
          <a:bodyPr/>
          <a:lstStyle/>
          <a:p>
            <a:endParaRPr lang="es-CL"/>
          </a:p>
        </p:txBody>
      </p:sp>
      <p:sp>
        <p:nvSpPr>
          <p:cNvPr id="33" name="Shape 26"/>
          <p:cNvSpPr/>
          <p:nvPr/>
        </p:nvSpPr>
        <p:spPr>
          <a:xfrm>
            <a:off x="8266176" y="4818888"/>
            <a:ext cx="566928" cy="566928"/>
          </a:xfrm>
          <a:prstGeom prst="ellipse">
            <a:avLst/>
          </a:prstGeom>
          <a:solidFill>
            <a:srgbClr val="1E2761"/>
          </a:solidFill>
          <a:ln/>
        </p:spPr>
        <p:txBody>
          <a:bodyPr/>
          <a:lstStyle/>
          <a:p>
            <a:endParaRPr lang="es-CL"/>
          </a:p>
        </p:txBody>
      </p:sp>
      <p:pic>
        <p:nvPicPr>
          <p:cNvPr id="34" name="Image 5" descr="ic_calendar.png"/>
          <p:cNvPicPr>
            <a:picLocks noChangeAspect="1"/>
          </p:cNvPicPr>
          <p:nvPr/>
        </p:nvPicPr>
        <p:blipFill>
          <a:blip r:embed="rId8"/>
          <a:stretch>
            <a:fillRect/>
          </a:stretch>
        </p:blipFill>
        <p:spPr>
          <a:xfrm>
            <a:off x="8424916" y="4977628"/>
            <a:ext cx="249448" cy="249448"/>
          </a:xfrm>
          <a:prstGeom prst="rect">
            <a:avLst/>
          </a:prstGeom>
        </p:spPr>
      </p:pic>
      <p:sp>
        <p:nvSpPr>
          <p:cNvPr id="35" name="Text 27"/>
          <p:cNvSpPr txBox="1"/>
          <p:nvPr/>
        </p:nvSpPr>
        <p:spPr>
          <a:xfrm>
            <a:off x="8915400" y="4562856"/>
            <a:ext cx="2560320" cy="274320"/>
          </a:xfrm>
          <a:prstGeom prst="rect">
            <a:avLst/>
          </a:prstGeom>
          <a:noFill/>
          <a:ln/>
        </p:spPr>
        <p:txBody>
          <a:bodyPr wrap="square" lIns="0" tIns="0" rIns="0" bIns="0" rtlCol="0" anchor="ctr"/>
          <a:lstStyle/>
          <a:p>
            <a:pPr marL="0" indent="0">
              <a:buNone/>
            </a:pPr>
            <a:r>
              <a:rPr lang="en-US" sz="1100" b="1" dirty="0">
                <a:solidFill>
                  <a:srgbClr val="FF8A3D"/>
                </a:solidFill>
                <a:latin typeface="Calibri" pitchFamily="34" charset="0"/>
                <a:ea typeface="Calibri" pitchFamily="34" charset="-122"/>
                <a:cs typeface="Calibri" pitchFamily="34" charset="-120"/>
              </a:rPr>
              <a:t>OE-06</a:t>
            </a:r>
            <a:endParaRPr lang="en-US" sz="1100" dirty="0"/>
          </a:p>
        </p:txBody>
      </p:sp>
      <p:sp>
        <p:nvSpPr>
          <p:cNvPr id="36" name="Text 28"/>
          <p:cNvSpPr txBox="1"/>
          <p:nvPr/>
        </p:nvSpPr>
        <p:spPr>
          <a:xfrm>
            <a:off x="8915400" y="4837176"/>
            <a:ext cx="2514600" cy="795528"/>
          </a:xfrm>
          <a:prstGeom prst="rect">
            <a:avLst/>
          </a:prstGeom>
          <a:noFill/>
          <a:ln/>
        </p:spPr>
        <p:txBody>
          <a:bodyPr wrap="square" lIns="0" tIns="0" rIns="0" bIns="0" rtlCol="0" anchor="ctr"/>
          <a:lstStyle/>
          <a:p>
            <a:pPr marL="0" indent="0">
              <a:lnSpc>
                <a:spcPct val="108000"/>
              </a:lnSpc>
              <a:buNone/>
            </a:pPr>
            <a:r>
              <a:rPr lang="en-US" sz="1080" dirty="0">
                <a:solidFill>
                  <a:srgbClr val="4A5578"/>
                </a:solidFill>
                <a:latin typeface="Calibri" pitchFamily="34" charset="0"/>
                <a:ea typeface="Calibri" pitchFamily="34" charset="-122"/>
                <a:cs typeface="Calibri" pitchFamily="34" charset="-120"/>
              </a:rPr>
              <a:t>Gestionar el proyecto con evidencia documental de cada decisión y avance.</a:t>
            </a:r>
            <a:endParaRPr lang="en-US" sz="1080" dirty="0"/>
          </a:p>
        </p:txBody>
      </p:sp>
      <p:sp>
        <p:nvSpPr>
          <p:cNvPr id="37" name="Text 29"/>
          <p:cNvSpPr txBox="1"/>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8891B0"/>
                </a:solidFill>
                <a:latin typeface="Calibri" pitchFamily="34" charset="0"/>
                <a:ea typeface="Calibri" pitchFamily="34" charset="-122"/>
                <a:cs typeface="Calibri" pitchFamily="34" charset="-120"/>
              </a:rPr>
              <a:t>AutoSplat · Fase 1</a:t>
            </a:r>
            <a:endParaRPr lang="en-US" sz="900" dirty="0"/>
          </a:p>
        </p:txBody>
      </p:sp>
      <p:sp>
        <p:nvSpPr>
          <p:cNvPr id="38" name="Text 30"/>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lgn="l">
              <a:buNone/>
            </a:pPr>
            <a:r>
              <a:rPr lang="en-US" sz="1250" b="1" kern="0" spc="200" dirty="0">
                <a:solidFill>
                  <a:srgbClr val="FF8A3D"/>
                </a:solidFill>
                <a:latin typeface="Calibri" pitchFamily="34" charset="0"/>
                <a:ea typeface="Calibri" pitchFamily="34" charset="-122"/>
                <a:cs typeface="Calibri" pitchFamily="34" charset="-120"/>
              </a:rPr>
              <a:t>IE 6 · METODOLOGÍA DE TRABAJO DISCIPLINAR</a:t>
            </a:r>
            <a:endParaRPr lang="en-US" sz="1250" dirty="0"/>
          </a:p>
        </p:txBody>
      </p:sp>
      <p:sp>
        <p:nvSpPr>
          <p:cNvPr id="3" name="Text 1"/>
          <p:cNvSpPr txBox="1"/>
          <p:nvPr/>
        </p:nvSpPr>
        <p:spPr>
          <a:xfrm>
            <a:off x="548640" y="658368"/>
            <a:ext cx="10607040" cy="77724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Desarrollo incremental: por qué no Scrum</a:t>
            </a:r>
            <a:endParaRPr lang="en-US" sz="3200" dirty="0"/>
          </a:p>
        </p:txBody>
      </p:sp>
      <p:sp>
        <p:nvSpPr>
          <p:cNvPr id="4" name="Shape 2"/>
          <p:cNvSpPr/>
          <p:nvPr/>
        </p:nvSpPr>
        <p:spPr>
          <a:xfrm>
            <a:off x="548640" y="1645920"/>
            <a:ext cx="5029200" cy="4206240"/>
          </a:xfrm>
          <a:prstGeom prst="roundRect">
            <a:avLst>
              <a:gd name="adj" fmla="val 2609"/>
            </a:avLst>
          </a:prstGeom>
          <a:solidFill>
            <a:srgbClr val="1E2761"/>
          </a:solidFill>
          <a:ln/>
        </p:spPr>
        <p:txBody>
          <a:bodyPr/>
          <a:lstStyle/>
          <a:p>
            <a:endParaRPr lang="es-CL"/>
          </a:p>
        </p:txBody>
      </p:sp>
      <p:sp>
        <p:nvSpPr>
          <p:cNvPr id="5" name="Shape 3"/>
          <p:cNvSpPr/>
          <p:nvPr/>
        </p:nvSpPr>
        <p:spPr>
          <a:xfrm>
            <a:off x="982980" y="1943100"/>
            <a:ext cx="777240" cy="777240"/>
          </a:xfrm>
          <a:prstGeom prst="ellipse">
            <a:avLst/>
          </a:prstGeom>
          <a:solidFill>
            <a:srgbClr val="2A3480"/>
          </a:solidFill>
          <a:ln/>
        </p:spPr>
        <p:txBody>
          <a:bodyPr/>
          <a:lstStyle/>
          <a:p>
            <a:endParaRPr lang="es-CL"/>
          </a:p>
        </p:txBody>
      </p:sp>
      <p:pic>
        <p:nvPicPr>
          <p:cNvPr id="6" name="Image 0" descr="ic_gear.png"/>
          <p:cNvPicPr>
            <a:picLocks noChangeAspect="1"/>
          </p:cNvPicPr>
          <p:nvPr/>
        </p:nvPicPr>
        <p:blipFill>
          <a:blip r:embed="rId3"/>
          <a:stretch>
            <a:fillRect/>
          </a:stretch>
        </p:blipFill>
        <p:spPr>
          <a:xfrm>
            <a:off x="1200607" y="2160727"/>
            <a:ext cx="341986" cy="341986"/>
          </a:xfrm>
          <a:prstGeom prst="rect">
            <a:avLst/>
          </a:prstGeom>
        </p:spPr>
      </p:pic>
      <p:sp>
        <p:nvSpPr>
          <p:cNvPr id="7" name="Text 4"/>
          <p:cNvSpPr txBox="1"/>
          <p:nvPr/>
        </p:nvSpPr>
        <p:spPr>
          <a:xfrm>
            <a:off x="1965960" y="1993392"/>
            <a:ext cx="3383280" cy="6400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Metodología adoptada</a:t>
            </a:r>
            <a:endParaRPr lang="en-US" sz="1600" dirty="0"/>
          </a:p>
        </p:txBody>
      </p:sp>
      <p:sp>
        <p:nvSpPr>
          <p:cNvPr id="8" name="Text 5"/>
          <p:cNvSpPr txBox="1"/>
          <p:nvPr/>
        </p:nvSpPr>
        <p:spPr>
          <a:xfrm>
            <a:off x="868680" y="2743200"/>
            <a:ext cx="4297680" cy="365760"/>
          </a:xfrm>
          <a:prstGeom prst="rect">
            <a:avLst/>
          </a:prstGeom>
          <a:noFill/>
          <a:ln/>
        </p:spPr>
        <p:txBody>
          <a:bodyPr wrap="square" lIns="0" tIns="0" rIns="0" bIns="0" rtlCol="0" anchor="ctr"/>
          <a:lstStyle/>
          <a:p>
            <a:pPr marL="0" indent="0">
              <a:buNone/>
            </a:pPr>
            <a:r>
              <a:rPr lang="en-US" sz="1400" b="1" dirty="0">
                <a:solidFill>
                  <a:srgbClr val="FF8A3D"/>
                </a:solidFill>
                <a:latin typeface="Calibri" pitchFamily="34" charset="0"/>
                <a:ea typeface="Calibri" pitchFamily="34" charset="-122"/>
                <a:cs typeface="Calibri" pitchFamily="34" charset="-120"/>
              </a:rPr>
              <a:t>Desarrollo incremental — 5 entregas</a:t>
            </a:r>
            <a:endParaRPr lang="en-US" sz="1400" dirty="0"/>
          </a:p>
        </p:txBody>
      </p:sp>
      <p:sp>
        <p:nvSpPr>
          <p:cNvPr id="9" name="Text 6"/>
          <p:cNvSpPr txBox="1"/>
          <p:nvPr/>
        </p:nvSpPr>
        <p:spPr>
          <a:xfrm>
            <a:off x="868680" y="3127248"/>
            <a:ext cx="4297680" cy="914400"/>
          </a:xfrm>
          <a:prstGeom prst="rect">
            <a:avLst/>
          </a:prstGeom>
          <a:noFill/>
          <a:ln/>
        </p:spPr>
        <p:txBody>
          <a:bodyPr wrap="square" lIns="0" tIns="0" rIns="0" bIns="0"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El sistema se construye en bloques funcionales sucesivos, cada uno operativo y verificable, sobre una especificación de requisitos elaborada de forma anticipada y completa.</a:t>
            </a:r>
            <a:endParaRPr lang="en-US" sz="1200" dirty="0"/>
          </a:p>
        </p:txBody>
      </p:sp>
      <p:sp>
        <p:nvSpPr>
          <p:cNvPr id="10" name="Text 7"/>
          <p:cNvSpPr txBox="1"/>
          <p:nvPr/>
        </p:nvSpPr>
        <p:spPr>
          <a:xfrm>
            <a:off x="868680" y="4114800"/>
            <a:ext cx="429768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¿Por qué se descarta Scrum?</a:t>
            </a:r>
            <a:endParaRPr lang="en-US" sz="1250" dirty="0"/>
          </a:p>
        </p:txBody>
      </p:sp>
      <p:sp>
        <p:nvSpPr>
          <p:cNvPr id="11" name="Text 8"/>
          <p:cNvSpPr txBox="1"/>
          <p:nvPr/>
        </p:nvSpPr>
        <p:spPr>
          <a:xfrm>
            <a:off x="868680" y="4462272"/>
            <a:ext cx="4434840" cy="1280160"/>
          </a:xfrm>
          <a:prstGeom prst="rect">
            <a:avLst/>
          </a:prstGeom>
          <a:noFill/>
          <a:ln/>
        </p:spPr>
        <p:txBody>
          <a:bodyPr wrap="square" lIns="0" tIns="0" rIns="0" bIns="0" rtlCol="0" anchor="ctr"/>
          <a:lstStyle/>
          <a:p>
            <a:pPr marL="203200" indent="-203200">
              <a:lnSpc>
                <a:spcPct val="105000"/>
              </a:lnSpc>
              <a:spcAft>
                <a:spcPts val="600"/>
              </a:spcAft>
              <a:buSzPct val="100000"/>
              <a:buChar char="✕"/>
            </a:pPr>
            <a:r>
              <a:rPr lang="en-US" sz="1080" dirty="0">
                <a:solidFill>
                  <a:srgbClr val="CADCFC"/>
                </a:solidFill>
                <a:latin typeface="Calibri" pitchFamily="34" charset="0"/>
                <a:ea typeface="Calibri" pitchFamily="34" charset="-122"/>
                <a:cs typeface="Calibri" pitchFamily="34" charset="-120"/>
              </a:rPr>
              <a:t>Equipo de 3 personas: los roles de Scrum carecerían de separación real.</a:t>
            </a:r>
            <a:endParaRPr lang="en-US" sz="1080" dirty="0"/>
          </a:p>
          <a:p>
            <a:pPr marL="203200" indent="-203200">
              <a:lnSpc>
                <a:spcPct val="105000"/>
              </a:lnSpc>
              <a:spcAft>
                <a:spcPts val="600"/>
              </a:spcAft>
              <a:buSzPct val="100000"/>
              <a:buChar char="✕"/>
            </a:pPr>
            <a:r>
              <a:rPr lang="en-US" sz="1080" dirty="0">
                <a:solidFill>
                  <a:srgbClr val="CADCFC"/>
                </a:solidFill>
                <a:latin typeface="Calibri" pitchFamily="34" charset="0"/>
                <a:ea typeface="Calibri" pitchFamily="34" charset="-122"/>
                <a:cs typeface="Calibri" pitchFamily="34" charset="-120"/>
              </a:rPr>
              <a:t>Calendario académico fijo: no se puede renegociar el alcance cada iteración.</a:t>
            </a:r>
            <a:endParaRPr lang="en-US" sz="1080" dirty="0"/>
          </a:p>
          <a:p>
            <a:pPr marL="203200" indent="-203200">
              <a:lnSpc>
                <a:spcPct val="105000"/>
              </a:lnSpc>
              <a:spcAft>
                <a:spcPts val="600"/>
              </a:spcAft>
              <a:buSzPct val="100000"/>
              <a:buChar char="✕"/>
            </a:pPr>
            <a:r>
              <a:rPr lang="en-US" sz="1080" dirty="0">
                <a:solidFill>
                  <a:srgbClr val="CADCFC"/>
                </a:solidFill>
                <a:latin typeface="Calibri" pitchFamily="34" charset="0"/>
                <a:ea typeface="Calibri" pitchFamily="34" charset="-122"/>
                <a:cs typeface="Calibri" pitchFamily="34" charset="-120"/>
              </a:rPr>
              <a:t>Requisitos estables: el riesgo del proyecto es técnico, no de descubrimiento.</a:t>
            </a:r>
            <a:endParaRPr lang="en-US" sz="1080" dirty="0"/>
          </a:p>
        </p:txBody>
      </p:sp>
      <p:sp>
        <p:nvSpPr>
          <p:cNvPr id="12" name="Text 9"/>
          <p:cNvSpPr txBox="1"/>
          <p:nvPr/>
        </p:nvSpPr>
        <p:spPr>
          <a:xfrm>
            <a:off x="5852160" y="1645920"/>
            <a:ext cx="576072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Los cinco incrementos</a:t>
            </a:r>
            <a:endParaRPr lang="en-US" sz="1600" dirty="0"/>
          </a:p>
        </p:txBody>
      </p:sp>
      <p:sp>
        <p:nvSpPr>
          <p:cNvPr id="13" name="Shape 10"/>
          <p:cNvSpPr/>
          <p:nvPr/>
        </p:nvSpPr>
        <p:spPr>
          <a:xfrm>
            <a:off x="5852160" y="2148840"/>
            <a:ext cx="457200" cy="457200"/>
          </a:xfrm>
          <a:prstGeom prst="ellipse">
            <a:avLst/>
          </a:prstGeom>
          <a:solidFill>
            <a:srgbClr val="1E2761"/>
          </a:solidFill>
          <a:ln/>
        </p:spPr>
        <p:txBody>
          <a:bodyPr/>
          <a:lstStyle/>
          <a:p>
            <a:endParaRPr lang="es-CL"/>
          </a:p>
        </p:txBody>
      </p:sp>
      <p:sp>
        <p:nvSpPr>
          <p:cNvPr id="14" name="Text 11"/>
          <p:cNvSpPr txBox="1"/>
          <p:nvPr/>
        </p:nvSpPr>
        <p:spPr>
          <a:xfrm>
            <a:off x="5852160" y="21488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5" name="Shape 12"/>
          <p:cNvSpPr/>
          <p:nvPr/>
        </p:nvSpPr>
        <p:spPr>
          <a:xfrm>
            <a:off x="6080760" y="2606040"/>
            <a:ext cx="0" cy="310896"/>
          </a:xfrm>
          <a:prstGeom prst="line">
            <a:avLst/>
          </a:prstGeom>
          <a:noFill/>
          <a:ln w="19050">
            <a:solidFill>
              <a:srgbClr val="C7D0E8"/>
            </a:solidFill>
            <a:prstDash val="dash"/>
          </a:ln>
        </p:spPr>
        <p:txBody>
          <a:bodyPr/>
          <a:lstStyle/>
          <a:p>
            <a:endParaRPr lang="es-CL"/>
          </a:p>
        </p:txBody>
      </p:sp>
      <p:sp>
        <p:nvSpPr>
          <p:cNvPr id="16" name="Text 13"/>
          <p:cNvSpPr txBox="1"/>
          <p:nvPr/>
        </p:nvSpPr>
        <p:spPr>
          <a:xfrm>
            <a:off x="6537960" y="2130552"/>
            <a:ext cx="50292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Núcleo de la plataforma</a:t>
            </a:r>
            <a:endParaRPr lang="en-US" sz="1300" dirty="0"/>
          </a:p>
        </p:txBody>
      </p:sp>
      <p:sp>
        <p:nvSpPr>
          <p:cNvPr id="17" name="Text 14"/>
          <p:cNvSpPr txBox="1"/>
          <p:nvPr/>
        </p:nvSpPr>
        <p:spPr>
          <a:xfrm>
            <a:off x="6537960" y="2395728"/>
            <a:ext cx="5029200" cy="274320"/>
          </a:xfrm>
          <a:prstGeom prst="rect">
            <a:avLst/>
          </a:prstGeom>
          <a:noFill/>
          <a:ln/>
        </p:spPr>
        <p:txBody>
          <a:bodyPr wrap="square" lIns="0" tIns="0" rIns="0" bIns="0" rtlCol="0" anchor="ctr"/>
          <a:lstStyle/>
          <a:p>
            <a:pPr marL="0" indent="0">
              <a:buNone/>
            </a:pPr>
            <a:r>
              <a:rPr lang="en-US" sz="1080" dirty="0">
                <a:solidFill>
                  <a:srgbClr val="4A5578"/>
                </a:solidFill>
                <a:latin typeface="Calibri" pitchFamily="34" charset="0"/>
                <a:ea typeface="Calibri" pitchFamily="34" charset="-122"/>
                <a:cs typeface="Calibri" pitchFamily="34" charset="-120"/>
              </a:rPr>
              <a:t>Cuentas, autenticación, sistema de diseño</a:t>
            </a:r>
            <a:endParaRPr lang="en-US" sz="1080" dirty="0"/>
          </a:p>
        </p:txBody>
      </p:sp>
      <p:sp>
        <p:nvSpPr>
          <p:cNvPr id="18" name="Shape 15"/>
          <p:cNvSpPr/>
          <p:nvPr/>
        </p:nvSpPr>
        <p:spPr>
          <a:xfrm>
            <a:off x="5852160" y="2916936"/>
            <a:ext cx="457200" cy="457200"/>
          </a:xfrm>
          <a:prstGeom prst="ellipse">
            <a:avLst/>
          </a:prstGeom>
          <a:solidFill>
            <a:srgbClr val="1E2761"/>
          </a:solidFill>
          <a:ln/>
        </p:spPr>
        <p:txBody>
          <a:bodyPr/>
          <a:lstStyle/>
          <a:p>
            <a:endParaRPr lang="es-CL"/>
          </a:p>
        </p:txBody>
      </p:sp>
      <p:sp>
        <p:nvSpPr>
          <p:cNvPr id="19" name="Text 16"/>
          <p:cNvSpPr txBox="1"/>
          <p:nvPr/>
        </p:nvSpPr>
        <p:spPr>
          <a:xfrm>
            <a:off x="5852160" y="29169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0" name="Shape 17"/>
          <p:cNvSpPr/>
          <p:nvPr/>
        </p:nvSpPr>
        <p:spPr>
          <a:xfrm>
            <a:off x="6080760" y="3374136"/>
            <a:ext cx="0" cy="310896"/>
          </a:xfrm>
          <a:prstGeom prst="line">
            <a:avLst/>
          </a:prstGeom>
          <a:noFill/>
          <a:ln w="19050">
            <a:solidFill>
              <a:srgbClr val="C7D0E8"/>
            </a:solidFill>
            <a:prstDash val="dash"/>
          </a:ln>
        </p:spPr>
        <p:txBody>
          <a:bodyPr/>
          <a:lstStyle/>
          <a:p>
            <a:endParaRPr lang="es-CL"/>
          </a:p>
        </p:txBody>
      </p:sp>
      <p:sp>
        <p:nvSpPr>
          <p:cNvPr id="21" name="Text 18"/>
          <p:cNvSpPr txBox="1"/>
          <p:nvPr/>
        </p:nvSpPr>
        <p:spPr>
          <a:xfrm>
            <a:off x="6537960" y="2898648"/>
            <a:ext cx="50292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Catálogo y publicaciones</a:t>
            </a:r>
            <a:endParaRPr lang="en-US" sz="1300" dirty="0"/>
          </a:p>
        </p:txBody>
      </p:sp>
      <p:sp>
        <p:nvSpPr>
          <p:cNvPr id="22" name="Text 19"/>
          <p:cNvSpPr txBox="1"/>
          <p:nvPr/>
        </p:nvSpPr>
        <p:spPr>
          <a:xfrm>
            <a:off x="6537960" y="3163824"/>
            <a:ext cx="5029200" cy="274320"/>
          </a:xfrm>
          <a:prstGeom prst="rect">
            <a:avLst/>
          </a:prstGeom>
          <a:noFill/>
          <a:ln/>
        </p:spPr>
        <p:txBody>
          <a:bodyPr wrap="square" lIns="0" tIns="0" rIns="0" bIns="0" rtlCol="0" anchor="ctr"/>
          <a:lstStyle/>
          <a:p>
            <a:pPr marL="0" indent="0">
              <a:buNone/>
            </a:pPr>
            <a:r>
              <a:rPr lang="en-US" sz="1080" dirty="0">
                <a:solidFill>
                  <a:srgbClr val="4A5578"/>
                </a:solidFill>
                <a:latin typeface="Calibri" pitchFamily="34" charset="0"/>
                <a:ea typeface="Calibri" pitchFamily="34" charset="-122"/>
                <a:cs typeface="Calibri" pitchFamily="34" charset="-120"/>
              </a:rPr>
              <a:t>CRUD de vehículos, búsqueda y filtros</a:t>
            </a:r>
            <a:endParaRPr lang="en-US" sz="1080" dirty="0"/>
          </a:p>
        </p:txBody>
      </p:sp>
      <p:sp>
        <p:nvSpPr>
          <p:cNvPr id="23" name="Shape 20"/>
          <p:cNvSpPr/>
          <p:nvPr/>
        </p:nvSpPr>
        <p:spPr>
          <a:xfrm>
            <a:off x="5852160" y="3685032"/>
            <a:ext cx="457200" cy="457200"/>
          </a:xfrm>
          <a:prstGeom prst="ellipse">
            <a:avLst/>
          </a:prstGeom>
          <a:solidFill>
            <a:srgbClr val="1E2761"/>
          </a:solidFill>
          <a:ln/>
        </p:spPr>
        <p:txBody>
          <a:bodyPr/>
          <a:lstStyle/>
          <a:p>
            <a:endParaRPr lang="es-CL"/>
          </a:p>
        </p:txBody>
      </p:sp>
      <p:sp>
        <p:nvSpPr>
          <p:cNvPr id="24" name="Text 21"/>
          <p:cNvSpPr txBox="1"/>
          <p:nvPr/>
        </p:nvSpPr>
        <p:spPr>
          <a:xfrm>
            <a:off x="5852160" y="368503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5" name="Shape 22"/>
          <p:cNvSpPr/>
          <p:nvPr/>
        </p:nvSpPr>
        <p:spPr>
          <a:xfrm>
            <a:off x="6080760" y="4142232"/>
            <a:ext cx="0" cy="310896"/>
          </a:xfrm>
          <a:prstGeom prst="line">
            <a:avLst/>
          </a:prstGeom>
          <a:noFill/>
          <a:ln w="19050">
            <a:solidFill>
              <a:srgbClr val="C7D0E8"/>
            </a:solidFill>
            <a:prstDash val="dash"/>
          </a:ln>
        </p:spPr>
        <p:txBody>
          <a:bodyPr/>
          <a:lstStyle/>
          <a:p>
            <a:endParaRPr lang="es-CL"/>
          </a:p>
        </p:txBody>
      </p:sp>
      <p:sp>
        <p:nvSpPr>
          <p:cNvPr id="26" name="Text 23"/>
          <p:cNvSpPr txBox="1"/>
          <p:nvPr/>
        </p:nvSpPr>
        <p:spPr>
          <a:xfrm>
            <a:off x="6537960" y="3666744"/>
            <a:ext cx="50292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Reconstrucción 3D</a:t>
            </a:r>
            <a:endParaRPr lang="en-US" sz="1300" dirty="0"/>
          </a:p>
        </p:txBody>
      </p:sp>
      <p:sp>
        <p:nvSpPr>
          <p:cNvPr id="27" name="Text 24"/>
          <p:cNvSpPr txBox="1"/>
          <p:nvPr/>
        </p:nvSpPr>
        <p:spPr>
          <a:xfrm>
            <a:off x="6537960" y="3931920"/>
            <a:ext cx="5029200" cy="274320"/>
          </a:xfrm>
          <a:prstGeom prst="rect">
            <a:avLst/>
          </a:prstGeom>
          <a:noFill/>
          <a:ln/>
        </p:spPr>
        <p:txBody>
          <a:bodyPr wrap="square" lIns="0" tIns="0" rIns="0" bIns="0" rtlCol="0" anchor="ctr"/>
          <a:lstStyle/>
          <a:p>
            <a:pPr marL="0" indent="0">
              <a:buNone/>
            </a:pPr>
            <a:r>
              <a:rPr lang="en-US" sz="1080" dirty="0">
                <a:solidFill>
                  <a:srgbClr val="4A5578"/>
                </a:solidFill>
                <a:latin typeface="Calibri" pitchFamily="34" charset="0"/>
                <a:ea typeface="Calibri" pitchFamily="34" charset="-122"/>
                <a:cs typeface="Calibri" pitchFamily="34" charset="-120"/>
              </a:rPr>
              <a:t>Pipeline COLMAP + splatfacto sobre GPU</a:t>
            </a:r>
            <a:endParaRPr lang="en-US" sz="1080" dirty="0"/>
          </a:p>
        </p:txBody>
      </p:sp>
      <p:sp>
        <p:nvSpPr>
          <p:cNvPr id="28" name="Shape 25"/>
          <p:cNvSpPr/>
          <p:nvPr/>
        </p:nvSpPr>
        <p:spPr>
          <a:xfrm>
            <a:off x="5852160" y="4453128"/>
            <a:ext cx="457200" cy="457200"/>
          </a:xfrm>
          <a:prstGeom prst="ellipse">
            <a:avLst/>
          </a:prstGeom>
          <a:solidFill>
            <a:srgbClr val="1E2761"/>
          </a:solidFill>
          <a:ln/>
        </p:spPr>
        <p:txBody>
          <a:bodyPr/>
          <a:lstStyle/>
          <a:p>
            <a:endParaRPr lang="es-CL"/>
          </a:p>
        </p:txBody>
      </p:sp>
      <p:sp>
        <p:nvSpPr>
          <p:cNvPr id="29" name="Text 26"/>
          <p:cNvSpPr txBox="1"/>
          <p:nvPr/>
        </p:nvSpPr>
        <p:spPr>
          <a:xfrm>
            <a:off x="5852160" y="44531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0" name="Shape 27"/>
          <p:cNvSpPr/>
          <p:nvPr/>
        </p:nvSpPr>
        <p:spPr>
          <a:xfrm>
            <a:off x="6080760" y="4910328"/>
            <a:ext cx="0" cy="310896"/>
          </a:xfrm>
          <a:prstGeom prst="line">
            <a:avLst/>
          </a:prstGeom>
          <a:noFill/>
          <a:ln w="19050">
            <a:solidFill>
              <a:srgbClr val="C7D0E8"/>
            </a:solidFill>
            <a:prstDash val="dash"/>
          </a:ln>
        </p:spPr>
        <p:txBody>
          <a:bodyPr/>
          <a:lstStyle/>
          <a:p>
            <a:endParaRPr lang="es-CL"/>
          </a:p>
        </p:txBody>
      </p:sp>
      <p:sp>
        <p:nvSpPr>
          <p:cNvPr id="31" name="Text 28"/>
          <p:cNvSpPr txBox="1"/>
          <p:nvPr/>
        </p:nvSpPr>
        <p:spPr>
          <a:xfrm>
            <a:off x="6537960" y="4434840"/>
            <a:ext cx="50292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Visor 3D e interacción</a:t>
            </a:r>
            <a:endParaRPr lang="en-US" sz="1300" dirty="0"/>
          </a:p>
        </p:txBody>
      </p:sp>
      <p:sp>
        <p:nvSpPr>
          <p:cNvPr id="32" name="Text 29"/>
          <p:cNvSpPr txBox="1"/>
          <p:nvPr/>
        </p:nvSpPr>
        <p:spPr>
          <a:xfrm>
            <a:off x="6537960" y="4700016"/>
            <a:ext cx="5029200" cy="274320"/>
          </a:xfrm>
          <a:prstGeom prst="rect">
            <a:avLst/>
          </a:prstGeom>
          <a:noFill/>
          <a:ln/>
        </p:spPr>
        <p:txBody>
          <a:bodyPr wrap="square" lIns="0" tIns="0" rIns="0" bIns="0" rtlCol="0" anchor="ctr"/>
          <a:lstStyle/>
          <a:p>
            <a:pPr marL="0" indent="0">
              <a:buNone/>
            </a:pPr>
            <a:r>
              <a:rPr lang="en-US" sz="1080" dirty="0">
                <a:solidFill>
                  <a:srgbClr val="4A5578"/>
                </a:solidFill>
                <a:latin typeface="Calibri" pitchFamily="34" charset="0"/>
                <a:ea typeface="Calibri" pitchFamily="34" charset="-122"/>
                <a:cs typeface="Calibri" pitchFamily="34" charset="-120"/>
              </a:rPr>
              <a:t>Renderizado WebGL, favoritos, mensajería</a:t>
            </a:r>
            <a:endParaRPr lang="en-US" sz="1080" dirty="0"/>
          </a:p>
        </p:txBody>
      </p:sp>
      <p:sp>
        <p:nvSpPr>
          <p:cNvPr id="33" name="Shape 30"/>
          <p:cNvSpPr/>
          <p:nvPr/>
        </p:nvSpPr>
        <p:spPr>
          <a:xfrm>
            <a:off x="5852160" y="5221224"/>
            <a:ext cx="457200" cy="457200"/>
          </a:xfrm>
          <a:prstGeom prst="ellipse">
            <a:avLst/>
          </a:prstGeom>
          <a:solidFill>
            <a:srgbClr val="1E2761"/>
          </a:solidFill>
          <a:ln/>
        </p:spPr>
        <p:txBody>
          <a:bodyPr/>
          <a:lstStyle/>
          <a:p>
            <a:endParaRPr lang="es-CL"/>
          </a:p>
        </p:txBody>
      </p:sp>
      <p:sp>
        <p:nvSpPr>
          <p:cNvPr id="34" name="Text 31"/>
          <p:cNvSpPr txBox="1"/>
          <p:nvPr/>
        </p:nvSpPr>
        <p:spPr>
          <a:xfrm>
            <a:off x="5852160" y="522122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5" name="Text 32"/>
          <p:cNvSpPr txBox="1"/>
          <p:nvPr/>
        </p:nvSpPr>
        <p:spPr>
          <a:xfrm>
            <a:off x="6537960" y="5202936"/>
            <a:ext cx="50292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Administración y cierre</a:t>
            </a:r>
            <a:endParaRPr lang="en-US" sz="1300" dirty="0"/>
          </a:p>
        </p:txBody>
      </p:sp>
      <p:sp>
        <p:nvSpPr>
          <p:cNvPr id="36" name="Text 33"/>
          <p:cNvSpPr txBox="1"/>
          <p:nvPr/>
        </p:nvSpPr>
        <p:spPr>
          <a:xfrm>
            <a:off x="6537960" y="5468112"/>
            <a:ext cx="5029200" cy="274320"/>
          </a:xfrm>
          <a:prstGeom prst="rect">
            <a:avLst/>
          </a:prstGeom>
          <a:noFill/>
          <a:ln/>
        </p:spPr>
        <p:txBody>
          <a:bodyPr wrap="square" lIns="0" tIns="0" rIns="0" bIns="0" rtlCol="0" anchor="ctr"/>
          <a:lstStyle/>
          <a:p>
            <a:pPr marL="0" indent="0">
              <a:buNone/>
            </a:pPr>
            <a:r>
              <a:rPr lang="en-US" sz="1080" dirty="0">
                <a:solidFill>
                  <a:srgbClr val="4A5578"/>
                </a:solidFill>
                <a:latin typeface="Calibri" pitchFamily="34" charset="0"/>
                <a:ea typeface="Calibri" pitchFamily="34" charset="-122"/>
                <a:cs typeface="Calibri" pitchFamily="34" charset="-120"/>
              </a:rPr>
              <a:t>Moderación, pruebas, despliegue final</a:t>
            </a:r>
            <a:endParaRPr lang="en-US" sz="1080" dirty="0"/>
          </a:p>
        </p:txBody>
      </p:sp>
      <p:sp>
        <p:nvSpPr>
          <p:cNvPr id="37" name="Text 34"/>
          <p:cNvSpPr txBox="1"/>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8891B0"/>
                </a:solidFill>
                <a:latin typeface="Calibri" pitchFamily="34" charset="0"/>
                <a:ea typeface="Calibri" pitchFamily="34" charset="-122"/>
                <a:cs typeface="Calibri" pitchFamily="34" charset="-120"/>
              </a:rPr>
              <a:t>AutoSplat · Fase 1</a:t>
            </a:r>
            <a:endParaRPr lang="en-US" sz="900" dirty="0"/>
          </a:p>
        </p:txBody>
      </p:sp>
      <p:sp>
        <p:nvSpPr>
          <p:cNvPr id="38" name="Text 35"/>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lgn="l">
              <a:buNone/>
            </a:pPr>
            <a:r>
              <a:rPr lang="en-US" sz="1250" b="1" kern="0" spc="200" dirty="0">
                <a:solidFill>
                  <a:srgbClr val="FF8A3D"/>
                </a:solidFill>
                <a:latin typeface="Calibri" pitchFamily="34" charset="0"/>
                <a:ea typeface="Calibri" pitchFamily="34" charset="-122"/>
                <a:cs typeface="Calibri" pitchFamily="34" charset="-120"/>
              </a:rPr>
              <a:t>IE 7 · PLAN, TIEMPOS Y RECURSOS</a:t>
            </a:r>
            <a:endParaRPr lang="en-US" sz="1250" dirty="0"/>
          </a:p>
        </p:txBody>
      </p:sp>
      <p:sp>
        <p:nvSpPr>
          <p:cNvPr id="3" name="Text 1"/>
          <p:cNvSpPr txBox="1"/>
          <p:nvPr/>
        </p:nvSpPr>
        <p:spPr>
          <a:xfrm>
            <a:off x="548640" y="658368"/>
            <a:ext cx="10607040" cy="77724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Cronograma: 17 semanas, tres fases académicas</a:t>
            </a:r>
            <a:endParaRPr lang="en-US" sz="2800" dirty="0"/>
          </a:p>
        </p:txBody>
      </p:sp>
      <p:pic>
        <p:nvPicPr>
          <p:cNvPr id="4" name="Image 0" descr="gantt.png"/>
          <p:cNvPicPr>
            <a:picLocks noChangeAspect="1"/>
          </p:cNvPicPr>
          <p:nvPr/>
        </p:nvPicPr>
        <p:blipFill>
          <a:blip r:embed="rId3"/>
          <a:srcRect/>
          <a:stretch/>
        </p:blipFill>
        <p:spPr>
          <a:xfrm>
            <a:off x="457200" y="1417320"/>
            <a:ext cx="11274552" cy="4224528"/>
          </a:xfrm>
          <a:prstGeom prst="rect">
            <a:avLst/>
          </a:prstGeom>
        </p:spPr>
      </p:pic>
      <p:sp>
        <p:nvSpPr>
          <p:cNvPr id="5" name="Shape 2"/>
          <p:cNvSpPr/>
          <p:nvPr/>
        </p:nvSpPr>
        <p:spPr>
          <a:xfrm>
            <a:off x="548640" y="5806440"/>
            <a:ext cx="11064240" cy="713232"/>
          </a:xfrm>
          <a:prstGeom prst="roundRect">
            <a:avLst>
              <a:gd name="adj" fmla="val 10256"/>
            </a:avLst>
          </a:prstGeom>
          <a:solidFill>
            <a:srgbClr val="E9F0FD"/>
          </a:solidFill>
          <a:ln/>
        </p:spPr>
        <p:txBody>
          <a:bodyPr/>
          <a:lstStyle/>
          <a:p>
            <a:endParaRPr lang="es-CL"/>
          </a:p>
        </p:txBody>
      </p:sp>
      <p:sp>
        <p:nvSpPr>
          <p:cNvPr id="6" name="Text 3"/>
          <p:cNvSpPr txBox="1"/>
          <p:nvPr/>
        </p:nvSpPr>
        <p:spPr>
          <a:xfrm>
            <a:off x="731520" y="5870448"/>
            <a:ext cx="2491740" cy="27432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3 integrantes</a:t>
            </a:r>
            <a:endParaRPr lang="en-US" sz="1100" dirty="0"/>
          </a:p>
        </p:txBody>
      </p:sp>
      <p:sp>
        <p:nvSpPr>
          <p:cNvPr id="7" name="Text 4"/>
          <p:cNvSpPr txBox="1"/>
          <p:nvPr/>
        </p:nvSpPr>
        <p:spPr>
          <a:xfrm>
            <a:off x="731520" y="6144768"/>
            <a:ext cx="2491740" cy="320040"/>
          </a:xfrm>
          <a:prstGeom prst="rect">
            <a:avLst/>
          </a:prstGeom>
          <a:noFill/>
          <a:ln/>
        </p:spPr>
        <p:txBody>
          <a:bodyPr wrap="square" lIns="0" tIns="0" rIns="0" bIns="0" rtlCol="0" anchor="ctr"/>
          <a:lstStyle/>
          <a:p>
            <a:pPr marL="0" indent="0">
              <a:buNone/>
            </a:pPr>
            <a:r>
              <a:rPr lang="en-US" sz="950" dirty="0">
                <a:solidFill>
                  <a:srgbClr val="4A5578"/>
                </a:solidFill>
                <a:latin typeface="Calibri" pitchFamily="34" charset="0"/>
                <a:ea typeface="Calibri" pitchFamily="34" charset="-122"/>
                <a:cs typeface="Calibri" pitchFamily="34" charset="-120"/>
              </a:rPr>
              <a:t>12 h/sem. cada uno · 612 h totales</a:t>
            </a:r>
            <a:endParaRPr lang="en-US" sz="950" dirty="0"/>
          </a:p>
        </p:txBody>
      </p:sp>
      <p:sp>
        <p:nvSpPr>
          <p:cNvPr id="8" name="Text 5"/>
          <p:cNvSpPr txBox="1"/>
          <p:nvPr/>
        </p:nvSpPr>
        <p:spPr>
          <a:xfrm>
            <a:off x="3497580" y="5870448"/>
            <a:ext cx="2491740" cy="27432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Presentación final</a:t>
            </a:r>
            <a:endParaRPr lang="en-US" sz="1100" dirty="0"/>
          </a:p>
        </p:txBody>
      </p:sp>
      <p:sp>
        <p:nvSpPr>
          <p:cNvPr id="9" name="Text 6"/>
          <p:cNvSpPr txBox="1"/>
          <p:nvPr/>
        </p:nvSpPr>
        <p:spPr>
          <a:xfrm>
            <a:off x="3497580" y="6144768"/>
            <a:ext cx="2491740" cy="320040"/>
          </a:xfrm>
          <a:prstGeom prst="rect">
            <a:avLst/>
          </a:prstGeom>
          <a:noFill/>
          <a:ln/>
        </p:spPr>
        <p:txBody>
          <a:bodyPr wrap="square" lIns="0" tIns="0" rIns="0" bIns="0" rtlCol="0" anchor="ctr"/>
          <a:lstStyle/>
          <a:p>
            <a:pPr marL="0" indent="0">
              <a:buNone/>
            </a:pPr>
            <a:r>
              <a:rPr lang="en-US" sz="950" dirty="0">
                <a:solidFill>
                  <a:srgbClr val="4A5578"/>
                </a:solidFill>
                <a:latin typeface="Calibri" pitchFamily="34" charset="0"/>
                <a:ea typeface="Calibri" pitchFamily="34" charset="-122"/>
                <a:cs typeface="Calibri" pitchFamily="34" charset="-120"/>
              </a:rPr>
              <a:t>Viernes 18-12-2026 (cierre S17)</a:t>
            </a:r>
            <a:endParaRPr lang="en-US" sz="950" dirty="0"/>
          </a:p>
        </p:txBody>
      </p:sp>
      <p:sp>
        <p:nvSpPr>
          <p:cNvPr id="10" name="Shape 7"/>
          <p:cNvSpPr/>
          <p:nvPr/>
        </p:nvSpPr>
        <p:spPr>
          <a:xfrm>
            <a:off x="3314700" y="5870448"/>
            <a:ext cx="0" cy="548640"/>
          </a:xfrm>
          <a:prstGeom prst="line">
            <a:avLst/>
          </a:prstGeom>
          <a:noFill/>
          <a:ln w="12700">
            <a:solidFill>
              <a:srgbClr val="CBD3E8"/>
            </a:solidFill>
            <a:prstDash val="solid"/>
          </a:ln>
        </p:spPr>
        <p:txBody>
          <a:bodyPr/>
          <a:lstStyle/>
          <a:p>
            <a:endParaRPr lang="es-CL"/>
          </a:p>
        </p:txBody>
      </p:sp>
      <p:sp>
        <p:nvSpPr>
          <p:cNvPr id="11" name="Text 8"/>
          <p:cNvSpPr txBox="1"/>
          <p:nvPr/>
        </p:nvSpPr>
        <p:spPr>
          <a:xfrm>
            <a:off x="6263640" y="5870448"/>
            <a:ext cx="2491740" cy="27432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Punto crítico</a:t>
            </a:r>
            <a:endParaRPr lang="en-US" sz="1100" dirty="0"/>
          </a:p>
        </p:txBody>
      </p:sp>
      <p:sp>
        <p:nvSpPr>
          <p:cNvPr id="12" name="Text 9"/>
          <p:cNvSpPr txBox="1"/>
          <p:nvPr/>
        </p:nvSpPr>
        <p:spPr>
          <a:xfrm>
            <a:off x="6263640" y="6144768"/>
            <a:ext cx="2491740" cy="320040"/>
          </a:xfrm>
          <a:prstGeom prst="rect">
            <a:avLst/>
          </a:prstGeom>
          <a:noFill/>
          <a:ln/>
        </p:spPr>
        <p:txBody>
          <a:bodyPr wrap="square" lIns="0" tIns="0" rIns="0" bIns="0" rtlCol="0" anchor="ctr"/>
          <a:lstStyle/>
          <a:p>
            <a:pPr marL="0" indent="0">
              <a:buNone/>
            </a:pPr>
            <a:r>
              <a:rPr lang="en-US" sz="950" dirty="0">
                <a:solidFill>
                  <a:srgbClr val="4A5578"/>
                </a:solidFill>
                <a:latin typeface="Calibri" pitchFamily="34" charset="0"/>
                <a:ea typeface="Calibri" pitchFamily="34" charset="-122"/>
                <a:cs typeface="Calibri" pitchFamily="34" charset="-120"/>
              </a:rPr>
              <a:t>Cierre Fase 2 (S12) — pipeline 3D validado</a:t>
            </a:r>
            <a:endParaRPr lang="en-US" sz="950" dirty="0"/>
          </a:p>
        </p:txBody>
      </p:sp>
      <p:sp>
        <p:nvSpPr>
          <p:cNvPr id="13" name="Shape 10"/>
          <p:cNvSpPr/>
          <p:nvPr/>
        </p:nvSpPr>
        <p:spPr>
          <a:xfrm>
            <a:off x="6080760" y="5870448"/>
            <a:ext cx="0" cy="548640"/>
          </a:xfrm>
          <a:prstGeom prst="line">
            <a:avLst/>
          </a:prstGeom>
          <a:noFill/>
          <a:ln w="12700">
            <a:solidFill>
              <a:srgbClr val="CBD3E8"/>
            </a:solidFill>
            <a:prstDash val="solid"/>
          </a:ln>
        </p:spPr>
        <p:txBody>
          <a:bodyPr/>
          <a:lstStyle/>
          <a:p>
            <a:endParaRPr lang="es-CL"/>
          </a:p>
        </p:txBody>
      </p:sp>
      <p:sp>
        <p:nvSpPr>
          <p:cNvPr id="14" name="Text 11"/>
          <p:cNvSpPr txBox="1"/>
          <p:nvPr/>
        </p:nvSpPr>
        <p:spPr>
          <a:xfrm>
            <a:off x="9029700" y="5870448"/>
            <a:ext cx="2491740" cy="27432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Recursos cloud</a:t>
            </a:r>
            <a:endParaRPr lang="en-US" sz="1100" dirty="0"/>
          </a:p>
        </p:txBody>
      </p:sp>
      <p:sp>
        <p:nvSpPr>
          <p:cNvPr id="15" name="Text 12"/>
          <p:cNvSpPr txBox="1"/>
          <p:nvPr/>
        </p:nvSpPr>
        <p:spPr>
          <a:xfrm>
            <a:off x="9029700" y="6144768"/>
            <a:ext cx="2491740" cy="320040"/>
          </a:xfrm>
          <a:prstGeom prst="rect">
            <a:avLst/>
          </a:prstGeom>
          <a:noFill/>
          <a:ln/>
        </p:spPr>
        <p:txBody>
          <a:bodyPr wrap="square" lIns="0" tIns="0" rIns="0" bIns="0" rtlCol="0" anchor="ctr"/>
          <a:lstStyle/>
          <a:p>
            <a:pPr marL="0" indent="0">
              <a:buNone/>
            </a:pPr>
            <a:r>
              <a:rPr lang="en-US" sz="950" dirty="0">
                <a:solidFill>
                  <a:srgbClr val="4A5578"/>
                </a:solidFill>
                <a:latin typeface="Calibri" pitchFamily="34" charset="0"/>
                <a:ea typeface="Calibri" pitchFamily="34" charset="-122"/>
                <a:cs typeface="Calibri" pitchFamily="34" charset="-120"/>
              </a:rPr>
              <a:t>Supabase, Cloudinary, Modal GPU, Vercel, Render</a:t>
            </a:r>
            <a:endParaRPr lang="en-US" sz="950" dirty="0"/>
          </a:p>
        </p:txBody>
      </p:sp>
      <p:sp>
        <p:nvSpPr>
          <p:cNvPr id="16" name="Shape 13"/>
          <p:cNvSpPr/>
          <p:nvPr/>
        </p:nvSpPr>
        <p:spPr>
          <a:xfrm>
            <a:off x="8846820" y="5870448"/>
            <a:ext cx="0" cy="548640"/>
          </a:xfrm>
          <a:prstGeom prst="line">
            <a:avLst/>
          </a:prstGeom>
          <a:noFill/>
          <a:ln w="12700">
            <a:solidFill>
              <a:srgbClr val="CBD3E8"/>
            </a:solidFill>
            <a:prstDash val="solid"/>
          </a:ln>
        </p:spPr>
        <p:txBody>
          <a:bodyPr/>
          <a:lstStyle/>
          <a:p>
            <a:endParaRPr lang="es-CL"/>
          </a:p>
        </p:txBody>
      </p:sp>
      <p:sp>
        <p:nvSpPr>
          <p:cNvPr id="17" name="Text 14"/>
          <p:cNvSpPr txBox="1"/>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8891B0"/>
                </a:solidFill>
                <a:latin typeface="Calibri" pitchFamily="34" charset="0"/>
                <a:ea typeface="Calibri" pitchFamily="34" charset="-122"/>
                <a:cs typeface="Calibri" pitchFamily="34" charset="-120"/>
              </a:rPr>
              <a:t>AutoSplat · Fase 1</a:t>
            </a:r>
            <a:endParaRPr lang="en-US" sz="900" dirty="0"/>
          </a:p>
        </p:txBody>
      </p:sp>
      <p:sp>
        <p:nvSpPr>
          <p:cNvPr id="18" name="Text 15"/>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lgn="l">
              <a:buNone/>
            </a:pPr>
            <a:r>
              <a:rPr lang="en-US" sz="1250" b="1" kern="0" spc="200" dirty="0">
                <a:solidFill>
                  <a:srgbClr val="FF8A3D"/>
                </a:solidFill>
                <a:latin typeface="Calibri" pitchFamily="34" charset="0"/>
                <a:ea typeface="Calibri" pitchFamily="34" charset="-122"/>
                <a:cs typeface="Calibri" pitchFamily="34" charset="-120"/>
              </a:rPr>
              <a:t>IE 4 · FACTIBILIDAD Y RIESGOS</a:t>
            </a:r>
            <a:endParaRPr lang="en-US" sz="1250" dirty="0"/>
          </a:p>
        </p:txBody>
      </p:sp>
      <p:sp>
        <p:nvSpPr>
          <p:cNvPr id="3" name="Text 1"/>
          <p:cNvSpPr txBox="1"/>
          <p:nvPr/>
        </p:nvSpPr>
        <p:spPr>
          <a:xfrm>
            <a:off x="548640" y="658368"/>
            <a:ext cx="10607040" cy="77724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El proyecto es factible: así se gestiona el riesgo</a:t>
            </a:r>
            <a:endParaRPr lang="en-US" sz="3200" dirty="0"/>
          </a:p>
        </p:txBody>
      </p:sp>
      <p:sp>
        <p:nvSpPr>
          <p:cNvPr id="4" name="Text 2"/>
          <p:cNvSpPr txBox="1"/>
          <p:nvPr/>
        </p:nvSpPr>
        <p:spPr>
          <a:xfrm>
            <a:off x="548640" y="1600200"/>
            <a:ext cx="3657600" cy="32004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Factibilidad en 17 semanas</a:t>
            </a:r>
            <a:endParaRPr lang="en-US" sz="1550" dirty="0"/>
          </a:p>
        </p:txBody>
      </p:sp>
      <p:sp>
        <p:nvSpPr>
          <p:cNvPr id="5" name="Text 3"/>
          <p:cNvSpPr txBox="1"/>
          <p:nvPr/>
        </p:nvSpPr>
        <p:spPr>
          <a:xfrm>
            <a:off x="548640" y="1965960"/>
            <a:ext cx="3794760" cy="1828800"/>
          </a:xfrm>
          <a:prstGeom prst="rect">
            <a:avLst/>
          </a:prstGeom>
          <a:noFill/>
          <a:ln/>
        </p:spPr>
        <p:txBody>
          <a:bodyPr wrap="square" lIns="0" tIns="0" rIns="0" bIns="0" rtlCol="0" anchor="ctr"/>
          <a:lstStyle/>
          <a:p>
            <a:pPr marL="203200" indent="-203200">
              <a:lnSpc>
                <a:spcPct val="110000"/>
              </a:lnSpc>
              <a:spcAft>
                <a:spcPts val="1000"/>
              </a:spcAft>
              <a:buSzPct val="100000"/>
              <a:buChar char="→"/>
            </a:pPr>
            <a:r>
              <a:rPr lang="en-US" sz="1130" dirty="0">
                <a:solidFill>
                  <a:srgbClr val="4A5578"/>
                </a:solidFill>
                <a:latin typeface="Calibri" pitchFamily="34" charset="0"/>
                <a:ea typeface="Calibri" pitchFamily="34" charset="-122"/>
                <a:cs typeface="Calibri" pitchFamily="34" charset="-120"/>
              </a:rPr>
              <a:t>Prueba de concepto ya validó el pipeline: 34 min de procesamiento sobre 118 fotogramas.</a:t>
            </a:r>
            <a:endParaRPr lang="en-US" sz="1130" dirty="0"/>
          </a:p>
          <a:p>
            <a:pPr marL="203200" indent="-203200">
              <a:lnSpc>
                <a:spcPct val="110000"/>
              </a:lnSpc>
              <a:spcAft>
                <a:spcPts val="1000"/>
              </a:spcAft>
              <a:buSzPct val="100000"/>
              <a:buChar char="→"/>
            </a:pPr>
            <a:r>
              <a:rPr lang="en-US" sz="1130" dirty="0">
                <a:solidFill>
                  <a:srgbClr val="4A5578"/>
                </a:solidFill>
                <a:latin typeface="Calibri" pitchFamily="34" charset="0"/>
                <a:ea typeface="Calibri" pitchFamily="34" charset="-122"/>
                <a:cs typeface="Calibri" pitchFamily="34" charset="-120"/>
              </a:rPr>
              <a:t>Servicios cloud con planes gratuitos suficientes para el volumen académico.</a:t>
            </a:r>
            <a:endParaRPr lang="en-US" sz="1130" dirty="0"/>
          </a:p>
          <a:p>
            <a:pPr marL="203200" indent="-203200">
              <a:lnSpc>
                <a:spcPct val="110000"/>
              </a:lnSpc>
              <a:spcAft>
                <a:spcPts val="1000"/>
              </a:spcAft>
              <a:buSzPct val="100000"/>
              <a:buChar char="→"/>
            </a:pPr>
            <a:r>
              <a:rPr lang="en-US" sz="1130" dirty="0">
                <a:solidFill>
                  <a:srgbClr val="4A5578"/>
                </a:solidFill>
                <a:latin typeface="Calibri" pitchFamily="34" charset="0"/>
                <a:ea typeface="Calibri" pitchFamily="34" charset="-122"/>
                <a:cs typeface="Calibri" pitchFamily="34" charset="-120"/>
              </a:rPr>
              <a:t>Riesgo técnico principal ubicado temprano (S12), dejando 5 semanas de margen.</a:t>
            </a:r>
            <a:endParaRPr lang="en-US" sz="1130" dirty="0"/>
          </a:p>
        </p:txBody>
      </p:sp>
      <p:sp>
        <p:nvSpPr>
          <p:cNvPr id="6" name="Shape 4"/>
          <p:cNvSpPr/>
          <p:nvPr/>
        </p:nvSpPr>
        <p:spPr>
          <a:xfrm>
            <a:off x="548640" y="3977640"/>
            <a:ext cx="3794760" cy="1874520"/>
          </a:xfrm>
          <a:prstGeom prst="roundRect">
            <a:avLst>
              <a:gd name="adj" fmla="val 4878"/>
            </a:avLst>
          </a:prstGeom>
          <a:solidFill>
            <a:srgbClr val="1E2761"/>
          </a:solidFill>
          <a:ln/>
        </p:spPr>
        <p:txBody>
          <a:bodyPr/>
          <a:lstStyle/>
          <a:p>
            <a:endParaRPr lang="es-CL"/>
          </a:p>
        </p:txBody>
      </p:sp>
      <p:sp>
        <p:nvSpPr>
          <p:cNvPr id="7" name="Text 5"/>
          <p:cNvSpPr txBox="1"/>
          <p:nvPr/>
        </p:nvSpPr>
        <p:spPr>
          <a:xfrm>
            <a:off x="777240" y="4133088"/>
            <a:ext cx="3337560" cy="274320"/>
          </a:xfrm>
          <a:prstGeom prst="rect">
            <a:avLst/>
          </a:prstGeom>
          <a:noFill/>
          <a:ln/>
        </p:spPr>
        <p:txBody>
          <a:bodyPr wrap="square" lIns="0" tIns="0" rIns="0" bIns="0" rtlCol="0" anchor="ctr"/>
          <a:lstStyle/>
          <a:p>
            <a:pPr marL="0" indent="0">
              <a:buNone/>
            </a:pPr>
            <a:r>
              <a:rPr lang="en-US" sz="950" b="1" kern="0" spc="100" dirty="0">
                <a:solidFill>
                  <a:srgbClr val="FF8A3D"/>
                </a:solidFill>
                <a:latin typeface="Calibri" pitchFamily="34" charset="0"/>
                <a:ea typeface="Calibri" pitchFamily="34" charset="-122"/>
                <a:cs typeface="Calibri" pitchFamily="34" charset="-120"/>
              </a:rPr>
              <a:t>DÉFICIT DE CAPACIDAD PROYECTADO</a:t>
            </a:r>
            <a:endParaRPr lang="en-US" sz="950" dirty="0"/>
          </a:p>
        </p:txBody>
      </p:sp>
      <p:sp>
        <p:nvSpPr>
          <p:cNvPr id="8" name="Text 6"/>
          <p:cNvSpPr txBox="1"/>
          <p:nvPr/>
        </p:nvSpPr>
        <p:spPr>
          <a:xfrm>
            <a:off x="777240" y="4370832"/>
            <a:ext cx="182880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150 h</a:t>
            </a:r>
            <a:endParaRPr lang="en-US" sz="3400" dirty="0"/>
          </a:p>
        </p:txBody>
      </p:sp>
      <p:sp>
        <p:nvSpPr>
          <p:cNvPr id="9" name="Text 7"/>
          <p:cNvSpPr txBox="1"/>
          <p:nvPr/>
        </p:nvSpPr>
        <p:spPr>
          <a:xfrm>
            <a:off x="777240" y="5029200"/>
            <a:ext cx="3337560" cy="502920"/>
          </a:xfrm>
          <a:prstGeom prst="rect">
            <a:avLst/>
          </a:prstGeom>
          <a:noFill/>
          <a:ln/>
        </p:spPr>
        <p:txBody>
          <a:bodyPr wrap="square" lIns="0" tIns="0" rIns="0" bIns="0" rtlCol="0" anchor="ctr"/>
          <a:lstStyle/>
          <a:p>
            <a:pPr marL="0" indent="0">
              <a:lnSpc>
                <a:spcPct val="110000"/>
              </a:lnSpc>
              <a:buNone/>
            </a:pPr>
            <a:r>
              <a:rPr lang="en-US" sz="980" dirty="0">
                <a:solidFill>
                  <a:srgbClr val="CADCFC"/>
                </a:solidFill>
                <a:latin typeface="Calibri" pitchFamily="34" charset="0"/>
                <a:ea typeface="Calibri" pitchFamily="34" charset="-122"/>
                <a:cs typeface="Calibri" pitchFamily="34" charset="-120"/>
              </a:rPr>
              <a:t>582 h estimadas vs. 432 h de capacidad nominal en construcción</a:t>
            </a:r>
            <a:endParaRPr lang="en-US" sz="980" dirty="0"/>
          </a:p>
        </p:txBody>
      </p:sp>
      <p:sp>
        <p:nvSpPr>
          <p:cNvPr id="10" name="Text 8"/>
          <p:cNvSpPr txBox="1"/>
          <p:nvPr/>
        </p:nvSpPr>
        <p:spPr>
          <a:xfrm>
            <a:off x="777240" y="5504688"/>
            <a:ext cx="3337560" cy="320040"/>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Mitigación: reclasificar 3 historias como postergables + ampliar dedicación en S13–S16</a:t>
            </a:r>
            <a:endParaRPr lang="en-US" sz="900" dirty="0"/>
          </a:p>
        </p:txBody>
      </p:sp>
      <p:sp>
        <p:nvSpPr>
          <p:cNvPr id="11" name="Text 9"/>
          <p:cNvSpPr txBox="1"/>
          <p:nvPr/>
        </p:nvSpPr>
        <p:spPr>
          <a:xfrm>
            <a:off x="4709160" y="1600200"/>
            <a:ext cx="5029200" cy="32004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Matriz de riesgos críticos</a:t>
            </a:r>
            <a:endParaRPr lang="en-US" sz="1550" dirty="0"/>
          </a:p>
        </p:txBody>
      </p:sp>
      <p:sp>
        <p:nvSpPr>
          <p:cNvPr id="12" name="Text 10"/>
          <p:cNvSpPr txBox="1"/>
          <p:nvPr/>
        </p:nvSpPr>
        <p:spPr>
          <a:xfrm>
            <a:off x="4709160" y="2011680"/>
            <a:ext cx="4937760" cy="228600"/>
          </a:xfrm>
          <a:prstGeom prst="rect">
            <a:avLst/>
          </a:prstGeom>
          <a:noFill/>
          <a:ln/>
        </p:spPr>
        <p:txBody>
          <a:bodyPr wrap="square" lIns="0" tIns="0" rIns="0" bIns="0" rtlCol="0" anchor="ctr"/>
          <a:lstStyle/>
          <a:p>
            <a:pPr marL="0" indent="0">
              <a:buNone/>
            </a:pPr>
            <a:r>
              <a:rPr lang="en-US" sz="950" b="1" dirty="0">
                <a:solidFill>
                  <a:srgbClr val="8891B0"/>
                </a:solidFill>
                <a:latin typeface="Calibri" pitchFamily="34" charset="0"/>
                <a:ea typeface="Calibri" pitchFamily="34" charset="-122"/>
                <a:cs typeface="Calibri" pitchFamily="34" charset="-120"/>
              </a:rPr>
              <a:t>ID   Riesgo</a:t>
            </a:r>
            <a:endParaRPr lang="en-US" sz="950" dirty="0"/>
          </a:p>
        </p:txBody>
      </p:sp>
      <p:sp>
        <p:nvSpPr>
          <p:cNvPr id="13" name="Shape 11"/>
          <p:cNvSpPr/>
          <p:nvPr/>
        </p:nvSpPr>
        <p:spPr>
          <a:xfrm>
            <a:off x="4709160" y="2304288"/>
            <a:ext cx="6903720" cy="566928"/>
          </a:xfrm>
          <a:prstGeom prst="roundRect">
            <a:avLst>
              <a:gd name="adj" fmla="val 9677"/>
            </a:avLst>
          </a:prstGeom>
          <a:solidFill>
            <a:srgbClr val="E9F0FD"/>
          </a:solidFill>
          <a:ln/>
        </p:spPr>
        <p:txBody>
          <a:bodyPr/>
          <a:lstStyle/>
          <a:p>
            <a:endParaRPr lang="es-CL"/>
          </a:p>
        </p:txBody>
      </p:sp>
      <p:sp>
        <p:nvSpPr>
          <p:cNvPr id="14" name="Shape 12"/>
          <p:cNvSpPr/>
          <p:nvPr/>
        </p:nvSpPr>
        <p:spPr>
          <a:xfrm>
            <a:off x="4864608" y="2450592"/>
            <a:ext cx="274320" cy="274320"/>
          </a:xfrm>
          <a:prstGeom prst="ellipse">
            <a:avLst/>
          </a:prstGeom>
          <a:solidFill>
            <a:srgbClr val="D64550"/>
          </a:solidFill>
          <a:ln/>
        </p:spPr>
        <p:txBody>
          <a:bodyPr/>
          <a:lstStyle/>
          <a:p>
            <a:endParaRPr lang="es-CL"/>
          </a:p>
        </p:txBody>
      </p:sp>
      <p:sp>
        <p:nvSpPr>
          <p:cNvPr id="15" name="Text 13"/>
          <p:cNvSpPr txBox="1"/>
          <p:nvPr/>
        </p:nvSpPr>
        <p:spPr>
          <a:xfrm>
            <a:off x="4864608" y="24505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a:t>
            </a:r>
            <a:endParaRPr lang="en-US" sz="900" dirty="0"/>
          </a:p>
        </p:txBody>
      </p:sp>
      <p:sp>
        <p:nvSpPr>
          <p:cNvPr id="16" name="Text 14"/>
          <p:cNvSpPr txBox="1"/>
          <p:nvPr/>
        </p:nvSpPr>
        <p:spPr>
          <a:xfrm>
            <a:off x="5285232" y="2377440"/>
            <a:ext cx="640080" cy="42062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R-02</a:t>
            </a:r>
            <a:endParaRPr lang="en-US" sz="1150" dirty="0"/>
          </a:p>
        </p:txBody>
      </p:sp>
      <p:sp>
        <p:nvSpPr>
          <p:cNvPr id="17" name="Text 15"/>
          <p:cNvSpPr txBox="1"/>
          <p:nvPr/>
        </p:nvSpPr>
        <p:spPr>
          <a:xfrm>
            <a:off x="5943600" y="2377440"/>
            <a:ext cx="5532120" cy="420624"/>
          </a:xfrm>
          <a:prstGeom prst="rect">
            <a:avLst/>
          </a:prstGeom>
          <a:noFill/>
          <a:ln/>
        </p:spPr>
        <p:txBody>
          <a:bodyPr wrap="square" lIns="0" tIns="0" rIns="0" bIns="0" rtlCol="0" anchor="ctr"/>
          <a:lstStyle/>
          <a:p>
            <a:pPr marL="0" indent="0">
              <a:buNone/>
            </a:pPr>
            <a:r>
              <a:rPr lang="en-US" sz="1030" dirty="0">
                <a:solidFill>
                  <a:srgbClr val="4A5578"/>
                </a:solidFill>
                <a:latin typeface="Calibri" pitchFamily="34" charset="0"/>
                <a:ea typeface="Calibri" pitchFamily="34" charset="-122"/>
                <a:cs typeface="Calibri" pitchFamily="34" charset="-120"/>
              </a:rPr>
              <a:t>Calidad insuficiente de las capturas de los usuarios</a:t>
            </a:r>
            <a:endParaRPr lang="en-US" sz="1030" dirty="0"/>
          </a:p>
        </p:txBody>
      </p:sp>
      <p:sp>
        <p:nvSpPr>
          <p:cNvPr id="18" name="Shape 16"/>
          <p:cNvSpPr/>
          <p:nvPr/>
        </p:nvSpPr>
        <p:spPr>
          <a:xfrm>
            <a:off x="4709160" y="2962656"/>
            <a:ext cx="6903720" cy="566928"/>
          </a:xfrm>
          <a:prstGeom prst="roundRect">
            <a:avLst>
              <a:gd name="adj" fmla="val 9677"/>
            </a:avLst>
          </a:prstGeom>
          <a:solidFill>
            <a:srgbClr val="E9F0FD"/>
          </a:solidFill>
          <a:ln/>
        </p:spPr>
        <p:txBody>
          <a:bodyPr/>
          <a:lstStyle/>
          <a:p>
            <a:endParaRPr lang="es-CL"/>
          </a:p>
        </p:txBody>
      </p:sp>
      <p:sp>
        <p:nvSpPr>
          <p:cNvPr id="19" name="Shape 17"/>
          <p:cNvSpPr/>
          <p:nvPr/>
        </p:nvSpPr>
        <p:spPr>
          <a:xfrm>
            <a:off x="4864608" y="3108960"/>
            <a:ext cx="274320" cy="274320"/>
          </a:xfrm>
          <a:prstGeom prst="ellipse">
            <a:avLst/>
          </a:prstGeom>
          <a:solidFill>
            <a:srgbClr val="D64550"/>
          </a:solidFill>
          <a:ln/>
        </p:spPr>
        <p:txBody>
          <a:bodyPr/>
          <a:lstStyle/>
          <a:p>
            <a:endParaRPr lang="es-CL"/>
          </a:p>
        </p:txBody>
      </p:sp>
      <p:sp>
        <p:nvSpPr>
          <p:cNvPr id="20" name="Text 18"/>
          <p:cNvSpPr txBox="1"/>
          <p:nvPr/>
        </p:nvSpPr>
        <p:spPr>
          <a:xfrm>
            <a:off x="4864608" y="310896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15</a:t>
            </a:r>
            <a:endParaRPr lang="en-US" sz="900" dirty="0"/>
          </a:p>
        </p:txBody>
      </p:sp>
      <p:sp>
        <p:nvSpPr>
          <p:cNvPr id="21" name="Text 19"/>
          <p:cNvSpPr txBox="1"/>
          <p:nvPr/>
        </p:nvSpPr>
        <p:spPr>
          <a:xfrm>
            <a:off x="5285232" y="3035808"/>
            <a:ext cx="640080" cy="42062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R-08</a:t>
            </a:r>
            <a:endParaRPr lang="en-US" sz="1150" dirty="0"/>
          </a:p>
        </p:txBody>
      </p:sp>
      <p:sp>
        <p:nvSpPr>
          <p:cNvPr id="22" name="Text 20"/>
          <p:cNvSpPr txBox="1"/>
          <p:nvPr/>
        </p:nvSpPr>
        <p:spPr>
          <a:xfrm>
            <a:off x="5943600" y="3035808"/>
            <a:ext cx="5532120" cy="420624"/>
          </a:xfrm>
          <a:prstGeom prst="rect">
            <a:avLst/>
          </a:prstGeom>
          <a:noFill/>
          <a:ln/>
        </p:spPr>
        <p:txBody>
          <a:bodyPr wrap="square" lIns="0" tIns="0" rIns="0" bIns="0" rtlCol="0" anchor="ctr"/>
          <a:lstStyle/>
          <a:p>
            <a:pPr marL="0" indent="0">
              <a:buNone/>
            </a:pPr>
            <a:r>
              <a:rPr lang="en-US" sz="1030" dirty="0">
                <a:solidFill>
                  <a:srgbClr val="4A5578"/>
                </a:solidFill>
                <a:latin typeface="Calibri" pitchFamily="34" charset="0"/>
                <a:ea typeface="Calibri" pitchFamily="34" charset="-122"/>
                <a:cs typeface="Calibri" pitchFamily="34" charset="-120"/>
              </a:rPr>
              <a:t>Ausencia de políticas de acceso a nivel de fila</a:t>
            </a:r>
            <a:endParaRPr lang="en-US" sz="1030" dirty="0"/>
          </a:p>
        </p:txBody>
      </p:sp>
      <p:sp>
        <p:nvSpPr>
          <p:cNvPr id="23" name="Shape 21"/>
          <p:cNvSpPr/>
          <p:nvPr/>
        </p:nvSpPr>
        <p:spPr>
          <a:xfrm>
            <a:off x="4709160" y="3621024"/>
            <a:ext cx="6903720" cy="566928"/>
          </a:xfrm>
          <a:prstGeom prst="roundRect">
            <a:avLst>
              <a:gd name="adj" fmla="val 9677"/>
            </a:avLst>
          </a:prstGeom>
          <a:solidFill>
            <a:srgbClr val="E9F0FD"/>
          </a:solidFill>
          <a:ln/>
        </p:spPr>
        <p:txBody>
          <a:bodyPr/>
          <a:lstStyle/>
          <a:p>
            <a:endParaRPr lang="es-CL"/>
          </a:p>
        </p:txBody>
      </p:sp>
      <p:sp>
        <p:nvSpPr>
          <p:cNvPr id="24" name="Shape 22"/>
          <p:cNvSpPr/>
          <p:nvPr/>
        </p:nvSpPr>
        <p:spPr>
          <a:xfrm>
            <a:off x="4864608" y="3767328"/>
            <a:ext cx="274320" cy="274320"/>
          </a:xfrm>
          <a:prstGeom prst="ellipse">
            <a:avLst/>
          </a:prstGeom>
          <a:solidFill>
            <a:srgbClr val="E0A62B"/>
          </a:solidFill>
          <a:ln/>
        </p:spPr>
        <p:txBody>
          <a:bodyPr/>
          <a:lstStyle/>
          <a:p>
            <a:endParaRPr lang="es-CL"/>
          </a:p>
        </p:txBody>
      </p:sp>
      <p:sp>
        <p:nvSpPr>
          <p:cNvPr id="25" name="Text 23"/>
          <p:cNvSpPr txBox="1"/>
          <p:nvPr/>
        </p:nvSpPr>
        <p:spPr>
          <a:xfrm>
            <a:off x="4864608" y="376732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16</a:t>
            </a:r>
            <a:endParaRPr lang="en-US" sz="900" dirty="0"/>
          </a:p>
        </p:txBody>
      </p:sp>
      <p:sp>
        <p:nvSpPr>
          <p:cNvPr id="26" name="Text 24"/>
          <p:cNvSpPr txBox="1"/>
          <p:nvPr/>
        </p:nvSpPr>
        <p:spPr>
          <a:xfrm>
            <a:off x="5285232" y="3694176"/>
            <a:ext cx="640080" cy="42062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R-01</a:t>
            </a:r>
            <a:endParaRPr lang="en-US" sz="1150" dirty="0"/>
          </a:p>
        </p:txBody>
      </p:sp>
      <p:sp>
        <p:nvSpPr>
          <p:cNvPr id="27" name="Text 25"/>
          <p:cNvSpPr txBox="1"/>
          <p:nvPr/>
        </p:nvSpPr>
        <p:spPr>
          <a:xfrm>
            <a:off x="5943600" y="3694176"/>
            <a:ext cx="5532120" cy="420624"/>
          </a:xfrm>
          <a:prstGeom prst="rect">
            <a:avLst/>
          </a:prstGeom>
          <a:noFill/>
          <a:ln/>
        </p:spPr>
        <p:txBody>
          <a:bodyPr wrap="square" lIns="0" tIns="0" rIns="0" bIns="0" rtlCol="0" anchor="ctr"/>
          <a:lstStyle/>
          <a:p>
            <a:pPr marL="0" indent="0">
              <a:buNone/>
            </a:pPr>
            <a:r>
              <a:rPr lang="en-US" sz="1030" dirty="0">
                <a:solidFill>
                  <a:srgbClr val="4A5578"/>
                </a:solidFill>
                <a:latin typeface="Calibri" pitchFamily="34" charset="0"/>
                <a:ea typeface="Calibri" pitchFamily="34" charset="-122"/>
                <a:cs typeface="Calibri" pitchFamily="34" charset="-120"/>
              </a:rPr>
              <a:t>Consumo de GPU excede el presupuesto</a:t>
            </a:r>
            <a:endParaRPr lang="en-US" sz="1030" dirty="0"/>
          </a:p>
        </p:txBody>
      </p:sp>
      <p:sp>
        <p:nvSpPr>
          <p:cNvPr id="28" name="Shape 26"/>
          <p:cNvSpPr/>
          <p:nvPr/>
        </p:nvSpPr>
        <p:spPr>
          <a:xfrm>
            <a:off x="4709160" y="4279392"/>
            <a:ext cx="6903720" cy="566928"/>
          </a:xfrm>
          <a:prstGeom prst="roundRect">
            <a:avLst>
              <a:gd name="adj" fmla="val 9677"/>
            </a:avLst>
          </a:prstGeom>
          <a:solidFill>
            <a:srgbClr val="E9F0FD"/>
          </a:solidFill>
          <a:ln/>
        </p:spPr>
        <p:txBody>
          <a:bodyPr/>
          <a:lstStyle/>
          <a:p>
            <a:endParaRPr lang="es-CL"/>
          </a:p>
        </p:txBody>
      </p:sp>
      <p:sp>
        <p:nvSpPr>
          <p:cNvPr id="29" name="Shape 27"/>
          <p:cNvSpPr/>
          <p:nvPr/>
        </p:nvSpPr>
        <p:spPr>
          <a:xfrm>
            <a:off x="4864608" y="4425696"/>
            <a:ext cx="274320" cy="274320"/>
          </a:xfrm>
          <a:prstGeom prst="ellipse">
            <a:avLst/>
          </a:prstGeom>
          <a:solidFill>
            <a:srgbClr val="E0A62B"/>
          </a:solidFill>
          <a:ln/>
        </p:spPr>
        <p:txBody>
          <a:bodyPr/>
          <a:lstStyle/>
          <a:p>
            <a:endParaRPr lang="es-CL"/>
          </a:p>
        </p:txBody>
      </p:sp>
      <p:sp>
        <p:nvSpPr>
          <p:cNvPr id="30" name="Text 28"/>
          <p:cNvSpPr txBox="1"/>
          <p:nvPr/>
        </p:nvSpPr>
        <p:spPr>
          <a:xfrm>
            <a:off x="4864608" y="442569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16</a:t>
            </a:r>
            <a:endParaRPr lang="en-US" sz="900" dirty="0"/>
          </a:p>
        </p:txBody>
      </p:sp>
      <p:sp>
        <p:nvSpPr>
          <p:cNvPr id="31" name="Text 29"/>
          <p:cNvSpPr txBox="1"/>
          <p:nvPr/>
        </p:nvSpPr>
        <p:spPr>
          <a:xfrm>
            <a:off x="5285232" y="4352544"/>
            <a:ext cx="640080" cy="42062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R-04</a:t>
            </a:r>
            <a:endParaRPr lang="en-US" sz="1150" dirty="0"/>
          </a:p>
        </p:txBody>
      </p:sp>
      <p:sp>
        <p:nvSpPr>
          <p:cNvPr id="32" name="Text 30"/>
          <p:cNvSpPr txBox="1"/>
          <p:nvPr/>
        </p:nvSpPr>
        <p:spPr>
          <a:xfrm>
            <a:off x="5943600" y="4352544"/>
            <a:ext cx="5532120" cy="420624"/>
          </a:xfrm>
          <a:prstGeom prst="rect">
            <a:avLst/>
          </a:prstGeom>
          <a:noFill/>
          <a:ln/>
        </p:spPr>
        <p:txBody>
          <a:bodyPr wrap="square" lIns="0" tIns="0" rIns="0" bIns="0" rtlCol="0" anchor="ctr"/>
          <a:lstStyle/>
          <a:p>
            <a:pPr marL="0" indent="0">
              <a:buNone/>
            </a:pPr>
            <a:r>
              <a:rPr lang="en-US" sz="1030" dirty="0">
                <a:solidFill>
                  <a:srgbClr val="4A5578"/>
                </a:solidFill>
                <a:latin typeface="Calibri" pitchFamily="34" charset="0"/>
                <a:ea typeface="Calibri" pitchFamily="34" charset="-122"/>
                <a:cs typeface="Calibri" pitchFamily="34" charset="-120"/>
              </a:rPr>
              <a:t>Curva de aprendizaje de COLMAP / Nerfstudio</a:t>
            </a:r>
            <a:endParaRPr lang="en-US" sz="1030" dirty="0"/>
          </a:p>
        </p:txBody>
      </p:sp>
      <p:sp>
        <p:nvSpPr>
          <p:cNvPr id="33" name="Shape 31"/>
          <p:cNvSpPr/>
          <p:nvPr/>
        </p:nvSpPr>
        <p:spPr>
          <a:xfrm>
            <a:off x="4709160" y="4937760"/>
            <a:ext cx="6903720" cy="566928"/>
          </a:xfrm>
          <a:prstGeom prst="roundRect">
            <a:avLst>
              <a:gd name="adj" fmla="val 9677"/>
            </a:avLst>
          </a:prstGeom>
          <a:solidFill>
            <a:srgbClr val="E9F0FD"/>
          </a:solidFill>
          <a:ln/>
        </p:spPr>
        <p:txBody>
          <a:bodyPr/>
          <a:lstStyle/>
          <a:p>
            <a:endParaRPr lang="es-CL"/>
          </a:p>
        </p:txBody>
      </p:sp>
      <p:sp>
        <p:nvSpPr>
          <p:cNvPr id="34" name="Shape 32"/>
          <p:cNvSpPr/>
          <p:nvPr/>
        </p:nvSpPr>
        <p:spPr>
          <a:xfrm>
            <a:off x="4864608" y="5084064"/>
            <a:ext cx="274320" cy="274320"/>
          </a:xfrm>
          <a:prstGeom prst="ellipse">
            <a:avLst/>
          </a:prstGeom>
          <a:solidFill>
            <a:srgbClr val="2E9E6B"/>
          </a:solidFill>
          <a:ln/>
        </p:spPr>
        <p:txBody>
          <a:bodyPr/>
          <a:lstStyle/>
          <a:p>
            <a:endParaRPr lang="es-CL"/>
          </a:p>
        </p:txBody>
      </p:sp>
      <p:sp>
        <p:nvSpPr>
          <p:cNvPr id="35" name="Text 33"/>
          <p:cNvSpPr txBox="1"/>
          <p:nvPr/>
        </p:nvSpPr>
        <p:spPr>
          <a:xfrm>
            <a:off x="4864608" y="508406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12</a:t>
            </a:r>
            <a:endParaRPr lang="en-US" sz="900" dirty="0"/>
          </a:p>
        </p:txBody>
      </p:sp>
      <p:sp>
        <p:nvSpPr>
          <p:cNvPr id="36" name="Text 34"/>
          <p:cNvSpPr txBox="1"/>
          <p:nvPr/>
        </p:nvSpPr>
        <p:spPr>
          <a:xfrm>
            <a:off x="5285232" y="5010912"/>
            <a:ext cx="640080" cy="42062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R-03</a:t>
            </a:r>
            <a:endParaRPr lang="en-US" sz="1150" dirty="0"/>
          </a:p>
        </p:txBody>
      </p:sp>
      <p:sp>
        <p:nvSpPr>
          <p:cNvPr id="37" name="Text 35"/>
          <p:cNvSpPr txBox="1"/>
          <p:nvPr/>
        </p:nvSpPr>
        <p:spPr>
          <a:xfrm>
            <a:off x="5943600" y="5010912"/>
            <a:ext cx="5532120" cy="420624"/>
          </a:xfrm>
          <a:prstGeom prst="rect">
            <a:avLst/>
          </a:prstGeom>
          <a:noFill/>
          <a:ln/>
        </p:spPr>
        <p:txBody>
          <a:bodyPr wrap="square" lIns="0" tIns="0" rIns="0" bIns="0" rtlCol="0" anchor="ctr"/>
          <a:lstStyle/>
          <a:p>
            <a:pPr marL="0" indent="0">
              <a:buNone/>
            </a:pPr>
            <a:r>
              <a:rPr lang="en-US" sz="1030" dirty="0">
                <a:solidFill>
                  <a:srgbClr val="4A5578"/>
                </a:solidFill>
                <a:latin typeface="Calibri" pitchFamily="34" charset="0"/>
                <a:ea typeface="Calibri" pitchFamily="34" charset="-122"/>
                <a:cs typeface="Calibri" pitchFamily="34" charset="-120"/>
              </a:rPr>
              <a:t>Tamaño del .splat degrada el rendimiento móvil</a:t>
            </a:r>
            <a:endParaRPr lang="en-US" sz="1030" dirty="0"/>
          </a:p>
        </p:txBody>
      </p:sp>
      <p:sp>
        <p:nvSpPr>
          <p:cNvPr id="38" name="Text 36"/>
          <p:cNvSpPr txBox="1"/>
          <p:nvPr/>
        </p:nvSpPr>
        <p:spPr>
          <a:xfrm>
            <a:off x="4709160" y="5641848"/>
            <a:ext cx="6858000" cy="274320"/>
          </a:xfrm>
          <a:prstGeom prst="rect">
            <a:avLst/>
          </a:prstGeom>
          <a:noFill/>
          <a:ln/>
        </p:spPr>
        <p:txBody>
          <a:bodyPr wrap="square" lIns="0" tIns="0" rIns="0" bIns="0" rtlCol="0" anchor="ctr"/>
          <a:lstStyle/>
          <a:p>
            <a:pPr marL="0" indent="0">
              <a:buNone/>
            </a:pPr>
            <a:r>
              <a:rPr lang="en-US" sz="900" i="1" dirty="0">
                <a:solidFill>
                  <a:srgbClr val="8891B0"/>
                </a:solidFill>
                <a:latin typeface="Calibri" pitchFamily="34" charset="0"/>
                <a:ea typeface="Calibri" pitchFamily="34" charset="-122"/>
                <a:cs typeface="Calibri" pitchFamily="34" charset="-120"/>
              </a:rPr>
              <a:t>Exposición = probabilidad × impacto (escala 1–5). Registro completo: 12 riesgos documentados.</a:t>
            </a:r>
            <a:endParaRPr lang="en-US" sz="900" dirty="0"/>
          </a:p>
        </p:txBody>
      </p:sp>
      <p:sp>
        <p:nvSpPr>
          <p:cNvPr id="39" name="Text 37"/>
          <p:cNvSpPr txBox="1"/>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8891B0"/>
                </a:solidFill>
                <a:latin typeface="Calibri" pitchFamily="34" charset="0"/>
                <a:ea typeface="Calibri" pitchFamily="34" charset="-122"/>
                <a:cs typeface="Calibri" pitchFamily="34" charset="-120"/>
              </a:rPr>
              <a:t>AutoSplat · Fase 1</a:t>
            </a:r>
            <a:endParaRPr lang="en-US" sz="900" dirty="0"/>
          </a:p>
        </p:txBody>
      </p:sp>
      <p:sp>
        <p:nvSpPr>
          <p:cNvPr id="40" name="Text 38"/>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lgn="l">
              <a:buNone/>
            </a:pPr>
            <a:r>
              <a:rPr lang="en-US" sz="1250" b="1" kern="0" spc="200" dirty="0">
                <a:solidFill>
                  <a:srgbClr val="FF8A3D"/>
                </a:solidFill>
                <a:latin typeface="Calibri" pitchFamily="34" charset="0"/>
                <a:ea typeface="Calibri" pitchFamily="34" charset="-122"/>
                <a:cs typeface="Calibri" pitchFamily="34" charset="-120"/>
              </a:rPr>
              <a:t>IE 8 · IE 12 — EVIDENCIAS Y CALIDAD DISCIPLINAR</a:t>
            </a:r>
            <a:endParaRPr lang="en-US" sz="1250" dirty="0"/>
          </a:p>
        </p:txBody>
      </p:sp>
      <p:sp>
        <p:nvSpPr>
          <p:cNvPr id="3" name="Text 1"/>
          <p:cNvSpPr txBox="1"/>
          <p:nvPr/>
        </p:nvSpPr>
        <p:spPr>
          <a:xfrm>
            <a:off x="548640" y="658368"/>
            <a:ext cx="10607040" cy="77724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Qué construimos y cómo verificamos que funciona</a:t>
            </a:r>
            <a:endParaRPr lang="en-US" sz="3200" dirty="0"/>
          </a:p>
        </p:txBody>
      </p:sp>
      <p:sp>
        <p:nvSpPr>
          <p:cNvPr id="4" name="Text 2"/>
          <p:cNvSpPr txBox="1"/>
          <p:nvPr/>
        </p:nvSpPr>
        <p:spPr>
          <a:xfrm>
            <a:off x="548640" y="1600200"/>
            <a:ext cx="5486400" cy="32004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Evidencias tangibles entregadas</a:t>
            </a:r>
            <a:endParaRPr lang="en-US" sz="1550" dirty="0"/>
          </a:p>
        </p:txBody>
      </p:sp>
      <p:sp>
        <p:nvSpPr>
          <p:cNvPr id="5" name="Shape 3"/>
          <p:cNvSpPr/>
          <p:nvPr/>
        </p:nvSpPr>
        <p:spPr>
          <a:xfrm>
            <a:off x="612648" y="2039112"/>
            <a:ext cx="566928" cy="566928"/>
          </a:xfrm>
          <a:prstGeom prst="ellipse">
            <a:avLst/>
          </a:prstGeom>
          <a:solidFill>
            <a:srgbClr val="1E2761"/>
          </a:solidFill>
          <a:ln/>
        </p:spPr>
        <p:txBody>
          <a:bodyPr/>
          <a:lstStyle/>
          <a:p>
            <a:endParaRPr lang="es-CL"/>
          </a:p>
        </p:txBody>
      </p:sp>
      <p:pic>
        <p:nvPicPr>
          <p:cNvPr id="6" name="Image 0" descr="ic_code.png"/>
          <p:cNvPicPr>
            <a:picLocks noChangeAspect="1"/>
          </p:cNvPicPr>
          <p:nvPr/>
        </p:nvPicPr>
        <p:blipFill>
          <a:blip r:embed="rId3"/>
          <a:stretch>
            <a:fillRect/>
          </a:stretch>
        </p:blipFill>
        <p:spPr>
          <a:xfrm>
            <a:off x="771388" y="2197852"/>
            <a:ext cx="249448" cy="249448"/>
          </a:xfrm>
          <a:prstGeom prst="rect">
            <a:avLst/>
          </a:prstGeom>
        </p:spPr>
      </p:pic>
      <p:sp>
        <p:nvSpPr>
          <p:cNvPr id="7" name="Text 4"/>
          <p:cNvSpPr txBox="1"/>
          <p:nvPr/>
        </p:nvSpPr>
        <p:spPr>
          <a:xfrm>
            <a:off x="1298448" y="2029968"/>
            <a:ext cx="457200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Repositorio Git</a:t>
            </a:r>
            <a:endParaRPr lang="en-US" sz="1250" dirty="0"/>
          </a:p>
        </p:txBody>
      </p:sp>
      <p:sp>
        <p:nvSpPr>
          <p:cNvPr id="8" name="Text 5"/>
          <p:cNvSpPr txBox="1"/>
          <p:nvPr/>
        </p:nvSpPr>
        <p:spPr>
          <a:xfrm>
            <a:off x="1298448" y="2322576"/>
            <a:ext cx="4572000" cy="292608"/>
          </a:xfrm>
          <a:prstGeom prst="rect">
            <a:avLst/>
          </a:prstGeom>
          <a:noFill/>
          <a:ln/>
        </p:spPr>
        <p:txBody>
          <a:bodyPr wrap="square" lIns="0" tIns="0" rIns="0" bIns="0" rtlCol="0" anchor="ctr"/>
          <a:lstStyle/>
          <a:p>
            <a:pPr marL="0" indent="0">
              <a:buNone/>
            </a:pPr>
            <a:r>
              <a:rPr lang="en-US" sz="1050" dirty="0">
                <a:solidFill>
                  <a:srgbClr val="4A5578"/>
                </a:solidFill>
                <a:latin typeface="Calibri" pitchFamily="34" charset="0"/>
                <a:ea typeface="Calibri" pitchFamily="34" charset="-122"/>
                <a:cs typeface="Calibri" pitchFamily="34" charset="-120"/>
              </a:rPr>
              <a:t>Monorepo con 4 componentes, ramas por historia de usuario</a:t>
            </a:r>
            <a:endParaRPr lang="en-US" sz="1050" dirty="0"/>
          </a:p>
        </p:txBody>
      </p:sp>
      <p:sp>
        <p:nvSpPr>
          <p:cNvPr id="9" name="Shape 6"/>
          <p:cNvSpPr/>
          <p:nvPr/>
        </p:nvSpPr>
        <p:spPr>
          <a:xfrm>
            <a:off x="612648" y="2788920"/>
            <a:ext cx="566928" cy="566928"/>
          </a:xfrm>
          <a:prstGeom prst="ellipse">
            <a:avLst/>
          </a:prstGeom>
          <a:solidFill>
            <a:srgbClr val="1E2761"/>
          </a:solidFill>
          <a:ln/>
        </p:spPr>
        <p:txBody>
          <a:bodyPr/>
          <a:lstStyle/>
          <a:p>
            <a:endParaRPr lang="es-CL"/>
          </a:p>
        </p:txBody>
      </p:sp>
      <p:pic>
        <p:nvPicPr>
          <p:cNvPr id="10" name="Image 1" descr="ic_layers.png"/>
          <p:cNvPicPr>
            <a:picLocks noChangeAspect="1"/>
          </p:cNvPicPr>
          <p:nvPr/>
        </p:nvPicPr>
        <p:blipFill>
          <a:blip r:embed="rId4"/>
          <a:stretch>
            <a:fillRect/>
          </a:stretch>
        </p:blipFill>
        <p:spPr>
          <a:xfrm>
            <a:off x="771388" y="2947660"/>
            <a:ext cx="249448" cy="249448"/>
          </a:xfrm>
          <a:prstGeom prst="rect">
            <a:avLst/>
          </a:prstGeom>
        </p:spPr>
      </p:pic>
      <p:sp>
        <p:nvSpPr>
          <p:cNvPr id="11" name="Text 7"/>
          <p:cNvSpPr txBox="1"/>
          <p:nvPr/>
        </p:nvSpPr>
        <p:spPr>
          <a:xfrm>
            <a:off x="1298448" y="2779776"/>
            <a:ext cx="457200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Modelo UML completo</a:t>
            </a:r>
            <a:endParaRPr lang="en-US" sz="1250" dirty="0"/>
          </a:p>
        </p:txBody>
      </p:sp>
      <p:sp>
        <p:nvSpPr>
          <p:cNvPr id="12" name="Text 8"/>
          <p:cNvSpPr txBox="1"/>
          <p:nvPr/>
        </p:nvSpPr>
        <p:spPr>
          <a:xfrm>
            <a:off x="1298448" y="3072384"/>
            <a:ext cx="4572000" cy="292608"/>
          </a:xfrm>
          <a:prstGeom prst="rect">
            <a:avLst/>
          </a:prstGeom>
          <a:noFill/>
          <a:ln/>
        </p:spPr>
        <p:txBody>
          <a:bodyPr wrap="square" lIns="0" tIns="0" rIns="0" bIns="0" rtlCol="0" anchor="ctr"/>
          <a:lstStyle/>
          <a:p>
            <a:pPr marL="0" indent="0">
              <a:buNone/>
            </a:pPr>
            <a:r>
              <a:rPr lang="en-US" sz="1050" dirty="0">
                <a:solidFill>
                  <a:srgbClr val="4A5578"/>
                </a:solidFill>
                <a:latin typeface="Calibri" pitchFamily="34" charset="0"/>
                <a:ea typeface="Calibri" pitchFamily="34" charset="-122"/>
                <a:cs typeface="Calibri" pitchFamily="34" charset="-120"/>
              </a:rPr>
              <a:t>5 diagramas de casos de uso, 1 de clases, 4 de actividad</a:t>
            </a:r>
            <a:endParaRPr lang="en-US" sz="1050" dirty="0"/>
          </a:p>
        </p:txBody>
      </p:sp>
      <p:sp>
        <p:nvSpPr>
          <p:cNvPr id="13" name="Shape 9"/>
          <p:cNvSpPr/>
          <p:nvPr/>
        </p:nvSpPr>
        <p:spPr>
          <a:xfrm>
            <a:off x="612648" y="3538728"/>
            <a:ext cx="566928" cy="566928"/>
          </a:xfrm>
          <a:prstGeom prst="ellipse">
            <a:avLst/>
          </a:prstGeom>
          <a:solidFill>
            <a:srgbClr val="1E2761"/>
          </a:solidFill>
          <a:ln/>
        </p:spPr>
        <p:txBody>
          <a:bodyPr/>
          <a:lstStyle/>
          <a:p>
            <a:endParaRPr lang="es-CL"/>
          </a:p>
        </p:txBody>
      </p:sp>
      <p:pic>
        <p:nvPicPr>
          <p:cNvPr id="14" name="Image 2" descr="ic_clipboard.png"/>
          <p:cNvPicPr>
            <a:picLocks noChangeAspect="1"/>
          </p:cNvPicPr>
          <p:nvPr/>
        </p:nvPicPr>
        <p:blipFill>
          <a:blip r:embed="rId5"/>
          <a:stretch>
            <a:fillRect/>
          </a:stretch>
        </p:blipFill>
        <p:spPr>
          <a:xfrm>
            <a:off x="771388" y="3697468"/>
            <a:ext cx="249448" cy="249448"/>
          </a:xfrm>
          <a:prstGeom prst="rect">
            <a:avLst/>
          </a:prstGeom>
        </p:spPr>
      </p:pic>
      <p:sp>
        <p:nvSpPr>
          <p:cNvPr id="15" name="Text 10"/>
          <p:cNvSpPr txBox="1"/>
          <p:nvPr/>
        </p:nvSpPr>
        <p:spPr>
          <a:xfrm>
            <a:off x="1298448" y="3529584"/>
            <a:ext cx="457200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24 historias de usuario</a:t>
            </a:r>
            <a:endParaRPr lang="en-US" sz="1250" dirty="0"/>
          </a:p>
        </p:txBody>
      </p:sp>
      <p:sp>
        <p:nvSpPr>
          <p:cNvPr id="16" name="Text 11"/>
          <p:cNvSpPr txBox="1"/>
          <p:nvPr/>
        </p:nvSpPr>
        <p:spPr>
          <a:xfrm>
            <a:off x="1298448" y="3822192"/>
            <a:ext cx="4572000" cy="292608"/>
          </a:xfrm>
          <a:prstGeom prst="rect">
            <a:avLst/>
          </a:prstGeom>
          <a:noFill/>
          <a:ln/>
        </p:spPr>
        <p:txBody>
          <a:bodyPr wrap="square" lIns="0" tIns="0" rIns="0" bIns="0" rtlCol="0" anchor="ctr"/>
          <a:lstStyle/>
          <a:p>
            <a:pPr marL="0" indent="0">
              <a:buNone/>
            </a:pPr>
            <a:r>
              <a:rPr lang="en-US" sz="1050" dirty="0">
                <a:solidFill>
                  <a:srgbClr val="4A5578"/>
                </a:solidFill>
                <a:latin typeface="Calibri" pitchFamily="34" charset="0"/>
                <a:ea typeface="Calibri" pitchFamily="34" charset="-122"/>
                <a:cs typeface="Calibri" pitchFamily="34" charset="-120"/>
              </a:rPr>
              <a:t>Con criterios de aceptación Dado–Cuando–Entonces</a:t>
            </a:r>
            <a:endParaRPr lang="en-US" sz="1050" dirty="0"/>
          </a:p>
        </p:txBody>
      </p:sp>
      <p:sp>
        <p:nvSpPr>
          <p:cNvPr id="17" name="Shape 12"/>
          <p:cNvSpPr/>
          <p:nvPr/>
        </p:nvSpPr>
        <p:spPr>
          <a:xfrm>
            <a:off x="612648" y="4288536"/>
            <a:ext cx="566928" cy="566928"/>
          </a:xfrm>
          <a:prstGeom prst="ellipse">
            <a:avLst/>
          </a:prstGeom>
          <a:solidFill>
            <a:srgbClr val="1E2761"/>
          </a:solidFill>
          <a:ln/>
        </p:spPr>
        <p:txBody>
          <a:bodyPr/>
          <a:lstStyle/>
          <a:p>
            <a:endParaRPr lang="es-CL"/>
          </a:p>
        </p:txBody>
      </p:sp>
      <p:pic>
        <p:nvPicPr>
          <p:cNvPr id="18" name="Image 3" descr="ic_calendar.png"/>
          <p:cNvPicPr>
            <a:picLocks noChangeAspect="1"/>
          </p:cNvPicPr>
          <p:nvPr/>
        </p:nvPicPr>
        <p:blipFill>
          <a:blip r:embed="rId6"/>
          <a:stretch>
            <a:fillRect/>
          </a:stretch>
        </p:blipFill>
        <p:spPr>
          <a:xfrm>
            <a:off x="771388" y="4447276"/>
            <a:ext cx="249448" cy="249448"/>
          </a:xfrm>
          <a:prstGeom prst="rect">
            <a:avLst/>
          </a:prstGeom>
        </p:spPr>
      </p:pic>
      <p:sp>
        <p:nvSpPr>
          <p:cNvPr id="19" name="Text 13"/>
          <p:cNvSpPr txBox="1"/>
          <p:nvPr/>
        </p:nvSpPr>
        <p:spPr>
          <a:xfrm>
            <a:off x="1298448" y="4279392"/>
            <a:ext cx="4572000" cy="292608"/>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Documentos de gestión</a:t>
            </a:r>
            <a:endParaRPr lang="en-US" sz="1250" dirty="0"/>
          </a:p>
        </p:txBody>
      </p:sp>
      <p:sp>
        <p:nvSpPr>
          <p:cNvPr id="20" name="Text 14"/>
          <p:cNvSpPr txBox="1"/>
          <p:nvPr/>
        </p:nvSpPr>
        <p:spPr>
          <a:xfrm>
            <a:off x="1298448" y="4572000"/>
            <a:ext cx="4572000" cy="292608"/>
          </a:xfrm>
          <a:prstGeom prst="rect">
            <a:avLst/>
          </a:prstGeom>
          <a:noFill/>
          <a:ln/>
        </p:spPr>
        <p:txBody>
          <a:bodyPr wrap="square" lIns="0" tIns="0" rIns="0" bIns="0" rtlCol="0" anchor="ctr"/>
          <a:lstStyle/>
          <a:p>
            <a:pPr marL="0" indent="0">
              <a:buNone/>
            </a:pPr>
            <a:r>
              <a:rPr lang="en-US" sz="1050" dirty="0">
                <a:solidFill>
                  <a:srgbClr val="4A5578"/>
                </a:solidFill>
                <a:latin typeface="Calibri" pitchFamily="34" charset="0"/>
                <a:ea typeface="Calibri" pitchFamily="34" charset="-122"/>
                <a:cs typeface="Calibri" pitchFamily="34" charset="-120"/>
              </a:rPr>
              <a:t>Plan del proyecto, actas, stakeholders, registro de riesgos</a:t>
            </a:r>
            <a:endParaRPr lang="en-US" sz="1050" dirty="0"/>
          </a:p>
        </p:txBody>
      </p:sp>
      <p:sp>
        <p:nvSpPr>
          <p:cNvPr id="21" name="Shape 15"/>
          <p:cNvSpPr/>
          <p:nvPr/>
        </p:nvSpPr>
        <p:spPr>
          <a:xfrm>
            <a:off x="548640" y="5074920"/>
            <a:ext cx="5532120" cy="777240"/>
          </a:xfrm>
          <a:prstGeom prst="roundRect">
            <a:avLst>
              <a:gd name="adj" fmla="val 11765"/>
            </a:avLst>
          </a:prstGeom>
          <a:solidFill>
            <a:srgbClr val="E9F0FD"/>
          </a:solidFill>
          <a:ln/>
        </p:spPr>
        <p:txBody>
          <a:bodyPr/>
          <a:lstStyle/>
          <a:p>
            <a:endParaRPr lang="es-CL"/>
          </a:p>
        </p:txBody>
      </p:sp>
      <p:sp>
        <p:nvSpPr>
          <p:cNvPr id="22" name="Text 16"/>
          <p:cNvSpPr txBox="1"/>
          <p:nvPr/>
        </p:nvSpPr>
        <p:spPr>
          <a:xfrm>
            <a:off x="777240" y="5074920"/>
            <a:ext cx="1188720" cy="7772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55%</a:t>
            </a:r>
            <a:endParaRPr lang="en-US" sz="2800" dirty="0"/>
          </a:p>
        </p:txBody>
      </p:sp>
      <p:sp>
        <p:nvSpPr>
          <p:cNvPr id="23" name="Text 17"/>
          <p:cNvSpPr txBox="1"/>
          <p:nvPr/>
        </p:nvSpPr>
        <p:spPr>
          <a:xfrm>
            <a:off x="1965960" y="5074920"/>
            <a:ext cx="3931920" cy="777240"/>
          </a:xfrm>
          <a:prstGeom prst="rect">
            <a:avLst/>
          </a:prstGeom>
          <a:noFill/>
          <a:ln/>
        </p:spPr>
        <p:txBody>
          <a:bodyPr wrap="square" lIns="0" tIns="0" rIns="0" bIns="0" rtlCol="0" anchor="ctr"/>
          <a:lstStyle/>
          <a:p>
            <a:pPr marL="0" indent="0">
              <a:lnSpc>
                <a:spcPct val="110000"/>
              </a:lnSpc>
              <a:buNone/>
            </a:pPr>
            <a:r>
              <a:rPr lang="en-US" sz="1050" dirty="0">
                <a:solidFill>
                  <a:srgbClr val="4A5578"/>
                </a:solidFill>
                <a:latin typeface="Calibri" pitchFamily="34" charset="0"/>
                <a:ea typeface="Calibri" pitchFamily="34" charset="-122"/>
                <a:cs typeface="Calibri" pitchFamily="34" charset="-120"/>
              </a:rPr>
              <a:t>del catálogo de requisitos completado a la fecha de este informe</a:t>
            </a:r>
            <a:endParaRPr lang="en-US" sz="1050" dirty="0"/>
          </a:p>
        </p:txBody>
      </p:sp>
      <p:sp>
        <p:nvSpPr>
          <p:cNvPr id="24" name="Shape 18"/>
          <p:cNvSpPr/>
          <p:nvPr/>
        </p:nvSpPr>
        <p:spPr>
          <a:xfrm>
            <a:off x="6400800" y="1600200"/>
            <a:ext cx="5257800" cy="4251960"/>
          </a:xfrm>
          <a:prstGeom prst="roundRect">
            <a:avLst>
              <a:gd name="adj" fmla="val 2581"/>
            </a:avLst>
          </a:prstGeom>
          <a:solidFill>
            <a:srgbClr val="1E2761"/>
          </a:solidFill>
          <a:ln/>
        </p:spPr>
        <p:txBody>
          <a:bodyPr/>
          <a:lstStyle/>
          <a:p>
            <a:endParaRPr lang="es-CL"/>
          </a:p>
        </p:txBody>
      </p:sp>
      <p:sp>
        <p:nvSpPr>
          <p:cNvPr id="25" name="Text 19"/>
          <p:cNvSpPr txBox="1"/>
          <p:nvPr/>
        </p:nvSpPr>
        <p:spPr>
          <a:xfrm>
            <a:off x="6720840" y="1828800"/>
            <a:ext cx="4663440" cy="274320"/>
          </a:xfrm>
          <a:prstGeom prst="rect">
            <a:avLst/>
          </a:prstGeom>
          <a:noFill/>
          <a:ln/>
        </p:spPr>
        <p:txBody>
          <a:bodyPr wrap="square" lIns="0" tIns="0" rIns="0" bIns="0" rtlCol="0" anchor="ctr"/>
          <a:lstStyle/>
          <a:p>
            <a:pPr marL="0" indent="0">
              <a:buNone/>
            </a:pPr>
            <a:r>
              <a:rPr lang="en-US" sz="1050" b="1" kern="0" spc="150" dirty="0">
                <a:solidFill>
                  <a:srgbClr val="FF8A3D"/>
                </a:solidFill>
                <a:latin typeface="Calibri" pitchFamily="34" charset="0"/>
                <a:ea typeface="Calibri" pitchFamily="34" charset="-122"/>
                <a:cs typeface="Calibri" pitchFamily="34" charset="-120"/>
              </a:rPr>
              <a:t>INDICADORES DE CALIDAD DISCIPLINAR</a:t>
            </a:r>
            <a:endParaRPr lang="en-US" sz="1050" dirty="0"/>
          </a:p>
        </p:txBody>
      </p:sp>
      <p:sp>
        <p:nvSpPr>
          <p:cNvPr id="26" name="Shape 20"/>
          <p:cNvSpPr/>
          <p:nvPr/>
        </p:nvSpPr>
        <p:spPr>
          <a:xfrm>
            <a:off x="6720840" y="2240280"/>
            <a:ext cx="82296" cy="777240"/>
          </a:xfrm>
          <a:prstGeom prst="roundRect">
            <a:avLst>
              <a:gd name="adj" fmla="val 22222"/>
            </a:avLst>
          </a:prstGeom>
          <a:solidFill>
            <a:srgbClr val="FF8A3D"/>
          </a:solidFill>
          <a:ln/>
        </p:spPr>
        <p:txBody>
          <a:bodyPr/>
          <a:lstStyle/>
          <a:p>
            <a:endParaRPr lang="es-CL"/>
          </a:p>
        </p:txBody>
      </p:sp>
      <p:sp>
        <p:nvSpPr>
          <p:cNvPr id="27" name="Text 21"/>
          <p:cNvSpPr txBox="1"/>
          <p:nvPr/>
        </p:nvSpPr>
        <p:spPr>
          <a:xfrm>
            <a:off x="6931152" y="2221992"/>
            <a:ext cx="448056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Gestión</a:t>
            </a:r>
            <a:endParaRPr lang="en-US" sz="1150" dirty="0"/>
          </a:p>
        </p:txBody>
      </p:sp>
      <p:sp>
        <p:nvSpPr>
          <p:cNvPr id="28" name="Text 22"/>
          <p:cNvSpPr txBox="1"/>
          <p:nvPr/>
        </p:nvSpPr>
        <p:spPr>
          <a:xfrm>
            <a:off x="6931152" y="2496312"/>
            <a:ext cx="4526280" cy="548640"/>
          </a:xfrm>
          <a:prstGeom prst="rect">
            <a:avLst/>
          </a:prstGeom>
          <a:noFill/>
          <a:ln/>
        </p:spPr>
        <p:txBody>
          <a:bodyPr wrap="square" lIns="0" tIns="0" rIns="0" bIns="0" rtlCol="0" anchor="ctr"/>
          <a:lstStyle/>
          <a:p>
            <a:pPr marL="0" indent="0">
              <a:lnSpc>
                <a:spcPct val="112000"/>
              </a:lnSpc>
              <a:buNone/>
            </a:pPr>
            <a:r>
              <a:rPr lang="en-US" sz="980" dirty="0">
                <a:solidFill>
                  <a:srgbClr val="CADCFC"/>
                </a:solidFill>
                <a:latin typeface="Calibri" pitchFamily="34" charset="0"/>
                <a:ea typeface="Calibri" pitchFamily="34" charset="-122"/>
                <a:cs typeface="Calibri" pitchFamily="34" charset="-120"/>
              </a:rPr>
              <a:t>Trazabilidad completa RF ↔ CU ↔ HU ↔ incremento; 6 hitos de control con criterio de cumplimiento verificable.</a:t>
            </a:r>
            <a:endParaRPr lang="en-US" sz="980" dirty="0"/>
          </a:p>
        </p:txBody>
      </p:sp>
      <p:sp>
        <p:nvSpPr>
          <p:cNvPr id="29" name="Shape 23"/>
          <p:cNvSpPr/>
          <p:nvPr/>
        </p:nvSpPr>
        <p:spPr>
          <a:xfrm>
            <a:off x="6720840" y="3172968"/>
            <a:ext cx="82296" cy="777240"/>
          </a:xfrm>
          <a:prstGeom prst="roundRect">
            <a:avLst>
              <a:gd name="adj" fmla="val 22222"/>
            </a:avLst>
          </a:prstGeom>
          <a:solidFill>
            <a:srgbClr val="FF8A3D"/>
          </a:solidFill>
          <a:ln/>
        </p:spPr>
        <p:txBody>
          <a:bodyPr/>
          <a:lstStyle/>
          <a:p>
            <a:endParaRPr lang="es-CL"/>
          </a:p>
        </p:txBody>
      </p:sp>
      <p:sp>
        <p:nvSpPr>
          <p:cNvPr id="30" name="Text 24"/>
          <p:cNvSpPr txBox="1"/>
          <p:nvPr/>
        </p:nvSpPr>
        <p:spPr>
          <a:xfrm>
            <a:off x="6931152" y="3154680"/>
            <a:ext cx="448056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Modelo de datos</a:t>
            </a:r>
            <a:endParaRPr lang="en-US" sz="1150" dirty="0"/>
          </a:p>
        </p:txBody>
      </p:sp>
      <p:sp>
        <p:nvSpPr>
          <p:cNvPr id="31" name="Text 25"/>
          <p:cNvSpPr txBox="1"/>
          <p:nvPr/>
        </p:nvSpPr>
        <p:spPr>
          <a:xfrm>
            <a:off x="6931152" y="3429000"/>
            <a:ext cx="4526280" cy="548640"/>
          </a:xfrm>
          <a:prstGeom prst="rect">
            <a:avLst/>
          </a:prstGeom>
          <a:noFill/>
          <a:ln/>
        </p:spPr>
        <p:txBody>
          <a:bodyPr wrap="square" lIns="0" tIns="0" rIns="0" bIns="0" rtlCol="0" anchor="ctr"/>
          <a:lstStyle/>
          <a:p>
            <a:pPr marL="0" indent="0">
              <a:lnSpc>
                <a:spcPct val="112000"/>
              </a:lnSpc>
              <a:buNone/>
            </a:pPr>
            <a:r>
              <a:rPr lang="en-US" sz="980" dirty="0">
                <a:solidFill>
                  <a:srgbClr val="CADCFC"/>
                </a:solidFill>
                <a:latin typeface="Calibri" pitchFamily="34" charset="0"/>
                <a:ea typeface="Calibri" pitchFamily="34" charset="-122"/>
                <a:cs typeface="Calibri" pitchFamily="34" charset="-120"/>
              </a:rPr>
              <a:t>Esquema relacional normalizado, 15 clases y 8 enumeraciones, políticas de seguridad a nivel de fila versionadas.</a:t>
            </a:r>
            <a:endParaRPr lang="en-US" sz="980" dirty="0"/>
          </a:p>
        </p:txBody>
      </p:sp>
      <p:sp>
        <p:nvSpPr>
          <p:cNvPr id="32" name="Shape 26"/>
          <p:cNvSpPr/>
          <p:nvPr/>
        </p:nvSpPr>
        <p:spPr>
          <a:xfrm>
            <a:off x="6720840" y="4105656"/>
            <a:ext cx="82296" cy="777240"/>
          </a:xfrm>
          <a:prstGeom prst="roundRect">
            <a:avLst>
              <a:gd name="adj" fmla="val 22222"/>
            </a:avLst>
          </a:prstGeom>
          <a:solidFill>
            <a:srgbClr val="FF8A3D"/>
          </a:solidFill>
          <a:ln/>
        </p:spPr>
        <p:txBody>
          <a:bodyPr/>
          <a:lstStyle/>
          <a:p>
            <a:endParaRPr lang="es-CL"/>
          </a:p>
        </p:txBody>
      </p:sp>
      <p:sp>
        <p:nvSpPr>
          <p:cNvPr id="33" name="Text 27"/>
          <p:cNvSpPr txBox="1"/>
          <p:nvPr/>
        </p:nvSpPr>
        <p:spPr>
          <a:xfrm>
            <a:off x="6931152" y="4087368"/>
            <a:ext cx="448056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Software</a:t>
            </a:r>
            <a:endParaRPr lang="en-US" sz="1150" dirty="0"/>
          </a:p>
        </p:txBody>
      </p:sp>
      <p:sp>
        <p:nvSpPr>
          <p:cNvPr id="34" name="Text 28"/>
          <p:cNvSpPr txBox="1"/>
          <p:nvPr/>
        </p:nvSpPr>
        <p:spPr>
          <a:xfrm>
            <a:off x="6931152" y="4361688"/>
            <a:ext cx="4526280" cy="548640"/>
          </a:xfrm>
          <a:prstGeom prst="rect">
            <a:avLst/>
          </a:prstGeom>
          <a:noFill/>
          <a:ln/>
        </p:spPr>
        <p:txBody>
          <a:bodyPr wrap="square" lIns="0" tIns="0" rIns="0" bIns="0" rtlCol="0" anchor="ctr"/>
          <a:lstStyle/>
          <a:p>
            <a:pPr marL="0" indent="0">
              <a:lnSpc>
                <a:spcPct val="112000"/>
              </a:lnSpc>
              <a:buNone/>
            </a:pPr>
            <a:r>
              <a:rPr lang="en-US" sz="980" dirty="0">
                <a:solidFill>
                  <a:srgbClr val="CADCFC"/>
                </a:solidFill>
                <a:latin typeface="Calibri" pitchFamily="34" charset="0"/>
                <a:ea typeface="Calibri" pitchFamily="34" charset="-122"/>
                <a:cs typeface="Calibri" pitchFamily="34" charset="-120"/>
              </a:rPr>
              <a:t>Arquitectura de 4 componentes desacoplados; principio de diseño: el worker nunca escribe directo en la base de datos.</a:t>
            </a:r>
            <a:endParaRPr lang="en-US" sz="980" dirty="0"/>
          </a:p>
        </p:txBody>
      </p:sp>
      <p:sp>
        <p:nvSpPr>
          <p:cNvPr id="35" name="Shape 29"/>
          <p:cNvSpPr/>
          <p:nvPr/>
        </p:nvSpPr>
        <p:spPr>
          <a:xfrm>
            <a:off x="6720840" y="5038344"/>
            <a:ext cx="82296" cy="777240"/>
          </a:xfrm>
          <a:prstGeom prst="roundRect">
            <a:avLst>
              <a:gd name="adj" fmla="val 22222"/>
            </a:avLst>
          </a:prstGeom>
          <a:solidFill>
            <a:srgbClr val="FF8A3D"/>
          </a:solidFill>
          <a:ln/>
        </p:spPr>
        <p:txBody>
          <a:bodyPr/>
          <a:lstStyle/>
          <a:p>
            <a:endParaRPr lang="es-CL"/>
          </a:p>
        </p:txBody>
      </p:sp>
      <p:sp>
        <p:nvSpPr>
          <p:cNvPr id="36" name="Text 30"/>
          <p:cNvSpPr txBox="1"/>
          <p:nvPr/>
        </p:nvSpPr>
        <p:spPr>
          <a:xfrm>
            <a:off x="6931152" y="5020056"/>
            <a:ext cx="448056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Pruebas</a:t>
            </a:r>
            <a:endParaRPr lang="en-US" sz="1150" dirty="0"/>
          </a:p>
        </p:txBody>
      </p:sp>
      <p:sp>
        <p:nvSpPr>
          <p:cNvPr id="37" name="Text 31"/>
          <p:cNvSpPr txBox="1"/>
          <p:nvPr/>
        </p:nvSpPr>
        <p:spPr>
          <a:xfrm>
            <a:off x="6931152" y="5294376"/>
            <a:ext cx="4526280" cy="548640"/>
          </a:xfrm>
          <a:prstGeom prst="rect">
            <a:avLst/>
          </a:prstGeom>
          <a:noFill/>
          <a:ln/>
        </p:spPr>
        <p:txBody>
          <a:bodyPr wrap="square" lIns="0" tIns="0" rIns="0" bIns="0" rtlCol="0" anchor="ctr"/>
          <a:lstStyle/>
          <a:p>
            <a:pPr marL="0" indent="0">
              <a:lnSpc>
                <a:spcPct val="112000"/>
              </a:lnSpc>
              <a:buNone/>
            </a:pPr>
            <a:r>
              <a:rPr lang="en-US" sz="980" dirty="0">
                <a:solidFill>
                  <a:srgbClr val="CADCFC"/>
                </a:solidFill>
                <a:latin typeface="Calibri" pitchFamily="34" charset="0"/>
                <a:ea typeface="Calibri" pitchFamily="34" charset="-122"/>
                <a:cs typeface="Calibri" pitchFamily="34" charset="-120"/>
              </a:rPr>
              <a:t>Meta de cobertura ≥ 70 % en backend; pruebas de aceptación por historia antes del cierre de cada incremento.</a:t>
            </a:r>
            <a:endParaRPr lang="en-US" sz="980" dirty="0"/>
          </a:p>
        </p:txBody>
      </p:sp>
      <p:sp>
        <p:nvSpPr>
          <p:cNvPr id="38" name="Text 32"/>
          <p:cNvSpPr txBox="1"/>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8891B0"/>
                </a:solidFill>
                <a:latin typeface="Calibri" pitchFamily="34" charset="0"/>
                <a:ea typeface="Calibri" pitchFamily="34" charset="-122"/>
                <a:cs typeface="Calibri" pitchFamily="34" charset="-120"/>
              </a:rPr>
              <a:t>AutoSplat · Fase 1</a:t>
            </a:r>
            <a:endParaRPr lang="en-US" sz="900" dirty="0"/>
          </a:p>
        </p:txBody>
      </p:sp>
      <p:sp>
        <p:nvSpPr>
          <p:cNvPr id="39" name="Text 33"/>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lgn="l">
              <a:buNone/>
            </a:pPr>
            <a:r>
              <a:rPr lang="en-US" sz="1250" b="1" kern="0" spc="200" dirty="0">
                <a:solidFill>
                  <a:srgbClr val="FF8A3D"/>
                </a:solidFill>
                <a:latin typeface="Calibri" pitchFamily="34" charset="0"/>
                <a:ea typeface="Calibri" pitchFamily="34" charset="-122"/>
                <a:cs typeface="Calibri" pitchFamily="34" charset="-120"/>
              </a:rPr>
              <a:t>IE 13 · CONCLUSIONES Y REFLEXIÓN</a:t>
            </a:r>
            <a:endParaRPr lang="en-US" sz="1250" dirty="0"/>
          </a:p>
        </p:txBody>
      </p:sp>
      <p:sp>
        <p:nvSpPr>
          <p:cNvPr id="3" name="Text 1"/>
          <p:cNvSpPr txBox="1"/>
          <p:nvPr/>
        </p:nvSpPr>
        <p:spPr>
          <a:xfrm>
            <a:off x="548640" y="658368"/>
            <a:ext cx="10607040" cy="77724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Lo que cada integrante concluye de esta fase</a:t>
            </a:r>
            <a:endParaRPr lang="en-US" sz="3200" dirty="0"/>
          </a:p>
        </p:txBody>
      </p:sp>
      <p:sp>
        <p:nvSpPr>
          <p:cNvPr id="4" name="Shape 2"/>
          <p:cNvSpPr/>
          <p:nvPr/>
        </p:nvSpPr>
        <p:spPr>
          <a:xfrm>
            <a:off x="548640" y="1691640"/>
            <a:ext cx="3456432" cy="3063240"/>
          </a:xfrm>
          <a:prstGeom prst="roundRect">
            <a:avLst>
              <a:gd name="adj" fmla="val 3582"/>
            </a:avLst>
          </a:prstGeom>
          <a:solidFill>
            <a:srgbClr val="E9F0FD"/>
          </a:solidFill>
          <a:ln/>
        </p:spPr>
        <p:txBody>
          <a:bodyPr/>
          <a:lstStyle/>
          <a:p>
            <a:endParaRPr lang="es-CL"/>
          </a:p>
        </p:txBody>
      </p:sp>
      <p:sp>
        <p:nvSpPr>
          <p:cNvPr id="5" name="Shape 3"/>
          <p:cNvSpPr/>
          <p:nvPr/>
        </p:nvSpPr>
        <p:spPr>
          <a:xfrm>
            <a:off x="786384" y="1892808"/>
            <a:ext cx="658368" cy="658368"/>
          </a:xfrm>
          <a:prstGeom prst="ellipse">
            <a:avLst/>
          </a:prstGeom>
          <a:solidFill>
            <a:srgbClr val="1E2761"/>
          </a:solidFill>
          <a:ln/>
        </p:spPr>
        <p:txBody>
          <a:bodyPr/>
          <a:lstStyle/>
          <a:p>
            <a:endParaRPr lang="es-CL"/>
          </a:p>
        </p:txBody>
      </p:sp>
      <p:pic>
        <p:nvPicPr>
          <p:cNvPr id="6" name="Image 0" descr="ic_code.png"/>
          <p:cNvPicPr>
            <a:picLocks noChangeAspect="1"/>
          </p:cNvPicPr>
          <p:nvPr/>
        </p:nvPicPr>
        <p:blipFill>
          <a:blip r:embed="rId3"/>
          <a:stretch>
            <a:fillRect/>
          </a:stretch>
        </p:blipFill>
        <p:spPr>
          <a:xfrm>
            <a:off x="970727" y="2077151"/>
            <a:ext cx="289682" cy="289682"/>
          </a:xfrm>
          <a:prstGeom prst="rect">
            <a:avLst/>
          </a:prstGeom>
        </p:spPr>
      </p:pic>
      <p:sp>
        <p:nvSpPr>
          <p:cNvPr id="7" name="Text 4"/>
          <p:cNvSpPr txBox="1"/>
          <p:nvPr/>
        </p:nvSpPr>
        <p:spPr>
          <a:xfrm>
            <a:off x="1600200" y="1947672"/>
            <a:ext cx="2267712"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Jesús Rojas Gutiérrez</a:t>
            </a:r>
            <a:endParaRPr lang="en-US" sz="1200" dirty="0"/>
          </a:p>
        </p:txBody>
      </p:sp>
      <p:sp>
        <p:nvSpPr>
          <p:cNvPr id="8" name="Text 5"/>
          <p:cNvSpPr txBox="1"/>
          <p:nvPr/>
        </p:nvSpPr>
        <p:spPr>
          <a:xfrm>
            <a:off x="1600200" y="2221992"/>
            <a:ext cx="2267712" cy="274320"/>
          </a:xfrm>
          <a:prstGeom prst="rect">
            <a:avLst/>
          </a:prstGeom>
          <a:noFill/>
          <a:ln/>
        </p:spPr>
        <p:txBody>
          <a:bodyPr wrap="square" lIns="0" tIns="0" rIns="0" bIns="0" rtlCol="0" anchor="ctr"/>
          <a:lstStyle/>
          <a:p>
            <a:pPr marL="0" indent="0">
              <a:buNone/>
            </a:pPr>
            <a:r>
              <a:rPr lang="en-US" sz="1000" i="1" dirty="0">
                <a:solidFill>
                  <a:srgbClr val="8891B0"/>
                </a:solidFill>
                <a:latin typeface="Calibri" pitchFamily="34" charset="0"/>
                <a:ea typeface="Calibri" pitchFamily="34" charset="-122"/>
                <a:cs typeface="Calibri" pitchFamily="34" charset="-120"/>
              </a:rPr>
              <a:t>Backend y worker 3D</a:t>
            </a:r>
            <a:endParaRPr lang="en-US" sz="1000" dirty="0"/>
          </a:p>
        </p:txBody>
      </p:sp>
      <p:sp>
        <p:nvSpPr>
          <p:cNvPr id="9" name="Text 6"/>
          <p:cNvSpPr txBox="1"/>
          <p:nvPr/>
        </p:nvSpPr>
        <p:spPr>
          <a:xfrm>
            <a:off x="804672" y="2743200"/>
            <a:ext cx="2944368" cy="1874520"/>
          </a:xfrm>
          <a:prstGeom prst="rect">
            <a:avLst/>
          </a:prstGeom>
          <a:noFill/>
          <a:ln/>
        </p:spPr>
        <p:txBody>
          <a:bodyPr wrap="square" lIns="0" tIns="0" rIns="0" bIns="0" rtlCol="0" anchor="ctr"/>
          <a:lstStyle/>
          <a:p>
            <a:pPr marL="0" indent="0">
              <a:lnSpc>
                <a:spcPct val="118000"/>
              </a:lnSpc>
              <a:buNone/>
            </a:pPr>
            <a:r>
              <a:rPr lang="en-US" sz="1100" i="1" dirty="0">
                <a:solidFill>
                  <a:srgbClr val="4A5578"/>
                </a:solidFill>
                <a:latin typeface="Calibri" pitchFamily="34" charset="0"/>
                <a:ea typeface="Calibri" pitchFamily="34" charset="-122"/>
                <a:cs typeface="Calibri" pitchFamily="34" charset="-120"/>
              </a:rPr>
              <a:t>“La factibilidad técnica ya no es una suposición: la prueba de concepto confirmó que el pipeline entrega un modelo navegable en un tiempo compatible con la operación real de la plataforma.”</a:t>
            </a:r>
            <a:endParaRPr lang="en-US" sz="1100" dirty="0"/>
          </a:p>
        </p:txBody>
      </p:sp>
      <p:sp>
        <p:nvSpPr>
          <p:cNvPr id="10" name="Shape 7"/>
          <p:cNvSpPr/>
          <p:nvPr/>
        </p:nvSpPr>
        <p:spPr>
          <a:xfrm>
            <a:off x="4325112" y="1691640"/>
            <a:ext cx="3456432" cy="3063240"/>
          </a:xfrm>
          <a:prstGeom prst="roundRect">
            <a:avLst>
              <a:gd name="adj" fmla="val 3582"/>
            </a:avLst>
          </a:prstGeom>
          <a:solidFill>
            <a:srgbClr val="E9F0FD"/>
          </a:solidFill>
          <a:ln/>
        </p:spPr>
        <p:txBody>
          <a:bodyPr/>
          <a:lstStyle/>
          <a:p>
            <a:endParaRPr lang="es-CL"/>
          </a:p>
        </p:txBody>
      </p:sp>
      <p:sp>
        <p:nvSpPr>
          <p:cNvPr id="11" name="Shape 8"/>
          <p:cNvSpPr/>
          <p:nvPr/>
        </p:nvSpPr>
        <p:spPr>
          <a:xfrm>
            <a:off x="4562856" y="1892808"/>
            <a:ext cx="658368" cy="658368"/>
          </a:xfrm>
          <a:prstGeom prst="ellipse">
            <a:avLst/>
          </a:prstGeom>
          <a:solidFill>
            <a:srgbClr val="1E2761"/>
          </a:solidFill>
          <a:ln/>
        </p:spPr>
        <p:txBody>
          <a:bodyPr/>
          <a:lstStyle/>
          <a:p>
            <a:endParaRPr lang="es-CL"/>
          </a:p>
        </p:txBody>
      </p:sp>
      <p:pic>
        <p:nvPicPr>
          <p:cNvPr id="12" name="Image 1" descr="ic_camera.png"/>
          <p:cNvPicPr>
            <a:picLocks noChangeAspect="1"/>
          </p:cNvPicPr>
          <p:nvPr/>
        </p:nvPicPr>
        <p:blipFill>
          <a:blip r:embed="rId4"/>
          <a:stretch>
            <a:fillRect/>
          </a:stretch>
        </p:blipFill>
        <p:spPr>
          <a:xfrm>
            <a:off x="4747199" y="2077151"/>
            <a:ext cx="289682" cy="289682"/>
          </a:xfrm>
          <a:prstGeom prst="rect">
            <a:avLst/>
          </a:prstGeom>
        </p:spPr>
      </p:pic>
      <p:sp>
        <p:nvSpPr>
          <p:cNvPr id="13" name="Text 9"/>
          <p:cNvSpPr txBox="1"/>
          <p:nvPr/>
        </p:nvSpPr>
        <p:spPr>
          <a:xfrm>
            <a:off x="5376672" y="1947672"/>
            <a:ext cx="2267712"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Lorna Zúñiga Aguilera</a:t>
            </a:r>
            <a:endParaRPr lang="en-US" sz="1200" dirty="0"/>
          </a:p>
        </p:txBody>
      </p:sp>
      <p:sp>
        <p:nvSpPr>
          <p:cNvPr id="14" name="Text 10"/>
          <p:cNvSpPr txBox="1"/>
          <p:nvPr/>
        </p:nvSpPr>
        <p:spPr>
          <a:xfrm>
            <a:off x="5376672" y="2221992"/>
            <a:ext cx="2267712" cy="274320"/>
          </a:xfrm>
          <a:prstGeom prst="rect">
            <a:avLst/>
          </a:prstGeom>
          <a:noFill/>
          <a:ln/>
        </p:spPr>
        <p:txBody>
          <a:bodyPr wrap="square" lIns="0" tIns="0" rIns="0" bIns="0" rtlCol="0" anchor="ctr"/>
          <a:lstStyle/>
          <a:p>
            <a:pPr marL="0" indent="0">
              <a:buNone/>
            </a:pPr>
            <a:r>
              <a:rPr lang="en-US" sz="1000" i="1" dirty="0">
                <a:solidFill>
                  <a:srgbClr val="8891B0"/>
                </a:solidFill>
                <a:latin typeface="Calibri" pitchFamily="34" charset="0"/>
                <a:ea typeface="Calibri" pitchFamily="34" charset="-122"/>
                <a:cs typeface="Calibri" pitchFamily="34" charset="-120"/>
              </a:rPr>
              <a:t>Frontend</a:t>
            </a:r>
            <a:endParaRPr lang="en-US" sz="1000" dirty="0"/>
          </a:p>
        </p:txBody>
      </p:sp>
      <p:sp>
        <p:nvSpPr>
          <p:cNvPr id="15" name="Text 11"/>
          <p:cNvSpPr txBox="1"/>
          <p:nvPr/>
        </p:nvSpPr>
        <p:spPr>
          <a:xfrm>
            <a:off x="4581144" y="2743200"/>
            <a:ext cx="2944368" cy="1874520"/>
          </a:xfrm>
          <a:prstGeom prst="rect">
            <a:avLst/>
          </a:prstGeom>
          <a:noFill/>
          <a:ln/>
        </p:spPr>
        <p:txBody>
          <a:bodyPr wrap="square" lIns="0" tIns="0" rIns="0" bIns="0" rtlCol="0" anchor="ctr"/>
          <a:lstStyle/>
          <a:p>
            <a:pPr marL="0" indent="0">
              <a:lnSpc>
                <a:spcPct val="118000"/>
              </a:lnSpc>
              <a:buNone/>
            </a:pPr>
            <a:r>
              <a:rPr lang="en-US" sz="1100" i="1" dirty="0">
                <a:solidFill>
                  <a:srgbClr val="4A5578"/>
                </a:solidFill>
                <a:latin typeface="Calibri" pitchFamily="34" charset="0"/>
                <a:ea typeface="Calibri" pitchFamily="34" charset="-122"/>
                <a:cs typeface="Calibri" pitchFamily="34" charset="-120"/>
              </a:rPr>
              <a:t>“Diseñar el flujo de publicación me obligó a pensar la interfaz como comunicadora de un proceso asíncrono de minutos, no solo como una pantalla bonita.”</a:t>
            </a:r>
            <a:endParaRPr lang="en-US" sz="1100" dirty="0"/>
          </a:p>
        </p:txBody>
      </p:sp>
      <p:sp>
        <p:nvSpPr>
          <p:cNvPr id="16" name="Shape 12"/>
          <p:cNvSpPr/>
          <p:nvPr/>
        </p:nvSpPr>
        <p:spPr>
          <a:xfrm>
            <a:off x="8101584" y="1691640"/>
            <a:ext cx="3456432" cy="3063240"/>
          </a:xfrm>
          <a:prstGeom prst="roundRect">
            <a:avLst>
              <a:gd name="adj" fmla="val 3582"/>
            </a:avLst>
          </a:prstGeom>
          <a:solidFill>
            <a:srgbClr val="E9F0FD"/>
          </a:solidFill>
          <a:ln/>
        </p:spPr>
        <p:txBody>
          <a:bodyPr/>
          <a:lstStyle/>
          <a:p>
            <a:endParaRPr lang="es-CL"/>
          </a:p>
        </p:txBody>
      </p:sp>
      <p:sp>
        <p:nvSpPr>
          <p:cNvPr id="17" name="Shape 13"/>
          <p:cNvSpPr/>
          <p:nvPr/>
        </p:nvSpPr>
        <p:spPr>
          <a:xfrm>
            <a:off x="8339328" y="1892808"/>
            <a:ext cx="658368" cy="658368"/>
          </a:xfrm>
          <a:prstGeom prst="ellipse">
            <a:avLst/>
          </a:prstGeom>
          <a:solidFill>
            <a:srgbClr val="1E2761"/>
          </a:solidFill>
          <a:ln/>
        </p:spPr>
        <p:txBody>
          <a:bodyPr/>
          <a:lstStyle/>
          <a:p>
            <a:endParaRPr lang="es-CL"/>
          </a:p>
        </p:txBody>
      </p:sp>
      <p:pic>
        <p:nvPicPr>
          <p:cNvPr id="18" name="Image 2" descr="ic_database.png"/>
          <p:cNvPicPr>
            <a:picLocks noChangeAspect="1"/>
          </p:cNvPicPr>
          <p:nvPr/>
        </p:nvPicPr>
        <p:blipFill>
          <a:blip r:embed="rId5"/>
          <a:stretch>
            <a:fillRect/>
          </a:stretch>
        </p:blipFill>
        <p:spPr>
          <a:xfrm>
            <a:off x="8523671" y="2077151"/>
            <a:ext cx="289682" cy="289682"/>
          </a:xfrm>
          <a:prstGeom prst="rect">
            <a:avLst/>
          </a:prstGeom>
        </p:spPr>
      </p:pic>
      <p:sp>
        <p:nvSpPr>
          <p:cNvPr id="19" name="Text 14"/>
          <p:cNvSpPr txBox="1"/>
          <p:nvPr/>
        </p:nvSpPr>
        <p:spPr>
          <a:xfrm>
            <a:off x="9153144" y="1947672"/>
            <a:ext cx="2267712"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Aldo Espinoza Daza</a:t>
            </a:r>
            <a:endParaRPr lang="en-US" sz="1200" dirty="0"/>
          </a:p>
        </p:txBody>
      </p:sp>
      <p:sp>
        <p:nvSpPr>
          <p:cNvPr id="20" name="Text 15"/>
          <p:cNvSpPr txBox="1"/>
          <p:nvPr/>
        </p:nvSpPr>
        <p:spPr>
          <a:xfrm>
            <a:off x="9153144" y="2221992"/>
            <a:ext cx="2267712" cy="274320"/>
          </a:xfrm>
          <a:prstGeom prst="rect">
            <a:avLst/>
          </a:prstGeom>
          <a:noFill/>
          <a:ln/>
        </p:spPr>
        <p:txBody>
          <a:bodyPr wrap="square" lIns="0" tIns="0" rIns="0" bIns="0" rtlCol="0" anchor="ctr"/>
          <a:lstStyle/>
          <a:p>
            <a:pPr marL="0" indent="0">
              <a:buNone/>
            </a:pPr>
            <a:r>
              <a:rPr lang="en-US" sz="1000" i="1" dirty="0">
                <a:solidFill>
                  <a:srgbClr val="8891B0"/>
                </a:solidFill>
                <a:latin typeface="Calibri" pitchFamily="34" charset="0"/>
                <a:ea typeface="Calibri" pitchFamily="34" charset="-122"/>
                <a:cs typeface="Calibri" pitchFamily="34" charset="-120"/>
              </a:rPr>
              <a:t>Base de datos e integración</a:t>
            </a:r>
            <a:endParaRPr lang="en-US" sz="1000" dirty="0"/>
          </a:p>
        </p:txBody>
      </p:sp>
      <p:sp>
        <p:nvSpPr>
          <p:cNvPr id="21" name="Text 16"/>
          <p:cNvSpPr txBox="1"/>
          <p:nvPr/>
        </p:nvSpPr>
        <p:spPr>
          <a:xfrm>
            <a:off x="8357616" y="2743200"/>
            <a:ext cx="2944368" cy="1874520"/>
          </a:xfrm>
          <a:prstGeom prst="rect">
            <a:avLst/>
          </a:prstGeom>
          <a:noFill/>
          <a:ln/>
        </p:spPr>
        <p:txBody>
          <a:bodyPr wrap="square" lIns="0" tIns="0" rIns="0" bIns="0" rtlCol="0" anchor="ctr"/>
          <a:lstStyle/>
          <a:p>
            <a:pPr marL="0" indent="0">
              <a:lnSpc>
                <a:spcPct val="118000"/>
              </a:lnSpc>
              <a:buNone/>
            </a:pPr>
            <a:r>
              <a:rPr lang="en-US" sz="1100" i="1" dirty="0">
                <a:solidFill>
                  <a:srgbClr val="4A5578"/>
                </a:solidFill>
                <a:latin typeface="Calibri" pitchFamily="34" charset="0"/>
                <a:ea typeface="Calibri" pitchFamily="34" charset="-122"/>
                <a:cs typeface="Calibri" pitchFamily="34" charset="-120"/>
              </a:rPr>
              <a:t>“Modelar AutoSplat mostró la complejidad real detrás de un marketplace aparentemente simple: ocho entidades centrales debían coexistir en un esquema seguro y coherente.”</a:t>
            </a:r>
            <a:endParaRPr lang="en-US" sz="1100" dirty="0"/>
          </a:p>
        </p:txBody>
      </p:sp>
      <p:sp>
        <p:nvSpPr>
          <p:cNvPr id="22" name="Shape 17"/>
          <p:cNvSpPr/>
          <p:nvPr/>
        </p:nvSpPr>
        <p:spPr>
          <a:xfrm>
            <a:off x="548640" y="4956048"/>
            <a:ext cx="11064240" cy="1170432"/>
          </a:xfrm>
          <a:prstGeom prst="roundRect">
            <a:avLst>
              <a:gd name="adj" fmla="val 7813"/>
            </a:avLst>
          </a:prstGeom>
          <a:solidFill>
            <a:srgbClr val="1E2761"/>
          </a:solidFill>
          <a:ln/>
        </p:spPr>
        <p:txBody>
          <a:bodyPr/>
          <a:lstStyle/>
          <a:p>
            <a:endParaRPr lang="es-CL"/>
          </a:p>
        </p:txBody>
      </p:sp>
      <p:sp>
        <p:nvSpPr>
          <p:cNvPr id="23" name="Text 18"/>
          <p:cNvSpPr txBox="1"/>
          <p:nvPr/>
        </p:nvSpPr>
        <p:spPr>
          <a:xfrm>
            <a:off x="822960" y="5084064"/>
            <a:ext cx="2743200" cy="256032"/>
          </a:xfrm>
          <a:prstGeom prst="rect">
            <a:avLst/>
          </a:prstGeom>
          <a:noFill/>
          <a:ln/>
        </p:spPr>
        <p:txBody>
          <a:bodyPr wrap="square" lIns="0" tIns="0" rIns="0" bIns="0" rtlCol="0" anchor="ctr"/>
          <a:lstStyle/>
          <a:p>
            <a:pPr marL="0" indent="0">
              <a:buNone/>
            </a:pPr>
            <a:r>
              <a:rPr lang="en-US" sz="1000" b="1" kern="0" spc="150" dirty="0">
                <a:solidFill>
                  <a:srgbClr val="FF8A3D"/>
                </a:solidFill>
                <a:latin typeface="Calibri" pitchFamily="34" charset="0"/>
                <a:ea typeface="Calibri" pitchFamily="34" charset="-122"/>
                <a:cs typeface="Calibri" pitchFamily="34" charset="-120"/>
              </a:rPr>
              <a:t>REFLEXIÓN DEL EQUIPO</a:t>
            </a:r>
            <a:endParaRPr lang="en-US" sz="1000" dirty="0"/>
          </a:p>
        </p:txBody>
      </p:sp>
      <p:sp>
        <p:nvSpPr>
          <p:cNvPr id="24" name="Text 19"/>
          <p:cNvSpPr txBox="1"/>
          <p:nvPr/>
        </p:nvSpPr>
        <p:spPr>
          <a:xfrm>
            <a:off x="822960" y="5340096"/>
            <a:ext cx="10515600" cy="685800"/>
          </a:xfrm>
          <a:prstGeom prst="rect">
            <a:avLst/>
          </a:prstGeom>
          <a:noFill/>
          <a:ln/>
        </p:spPr>
        <p:txBody>
          <a:bodyPr wrap="square" lIns="0" tIns="0" rIns="0" bIns="0"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Definir el modelo de datos y la arquitectura antes de escribir código de implementación redujo la ambigüedad entre los tres integrantes. No vemos esta fase como un trámite, sino como la base que determinará la calidad de todo lo que construyamos después.</a:t>
            </a:r>
            <a:endParaRPr lang="en-US" sz="1150" dirty="0"/>
          </a:p>
        </p:txBody>
      </p:sp>
      <p:sp>
        <p:nvSpPr>
          <p:cNvPr id="25" name="Text 20"/>
          <p:cNvSpPr txBox="1"/>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8891B0"/>
                </a:solidFill>
                <a:latin typeface="Calibri" pitchFamily="34" charset="0"/>
                <a:ea typeface="Calibri" pitchFamily="34" charset="-122"/>
                <a:cs typeface="Calibri" pitchFamily="34" charset="-120"/>
              </a:rPr>
              <a:t>AutoSplat · Fase 1</a:t>
            </a:r>
            <a:endParaRPr lang="en-US" sz="900" dirty="0"/>
          </a:p>
        </p:txBody>
      </p:sp>
      <p:sp>
        <p:nvSpPr>
          <p:cNvPr id="26" name="Text 21"/>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321040" y="0"/>
            <a:ext cx="3867912" cy="6858000"/>
          </a:xfrm>
          <a:prstGeom prst="rect">
            <a:avLst/>
          </a:prstGeom>
          <a:solidFill>
            <a:srgbClr val="141A47"/>
          </a:solidFill>
          <a:ln/>
        </p:spPr>
        <p:txBody>
          <a:bodyPr/>
          <a:lstStyle/>
          <a:p>
            <a:endParaRPr lang="es-CL"/>
          </a:p>
        </p:txBody>
      </p:sp>
      <p:sp>
        <p:nvSpPr>
          <p:cNvPr id="3" name="Shape 1"/>
          <p:cNvSpPr/>
          <p:nvPr/>
        </p:nvSpPr>
        <p:spPr>
          <a:xfrm>
            <a:off x="9692640" y="-1097280"/>
            <a:ext cx="4206240" cy="4206240"/>
          </a:xfrm>
          <a:prstGeom prst="ellipse">
            <a:avLst/>
          </a:prstGeom>
          <a:solidFill>
            <a:srgbClr val="232C6E"/>
          </a:solidFill>
          <a:ln/>
        </p:spPr>
        <p:txBody>
          <a:bodyPr/>
          <a:lstStyle/>
          <a:p>
            <a:endParaRPr lang="es-CL"/>
          </a:p>
        </p:txBody>
      </p:sp>
      <p:sp>
        <p:nvSpPr>
          <p:cNvPr id="4" name="Shape 2"/>
          <p:cNvSpPr/>
          <p:nvPr/>
        </p:nvSpPr>
        <p:spPr>
          <a:xfrm>
            <a:off x="9509760" y="2697480"/>
            <a:ext cx="1463040" cy="1463040"/>
          </a:xfrm>
          <a:prstGeom prst="ellipse">
            <a:avLst/>
          </a:prstGeom>
          <a:solidFill>
            <a:srgbClr val="2A3480"/>
          </a:solidFill>
          <a:ln/>
        </p:spPr>
        <p:txBody>
          <a:bodyPr/>
          <a:lstStyle/>
          <a:p>
            <a:endParaRPr lang="es-CL"/>
          </a:p>
        </p:txBody>
      </p:sp>
      <p:pic>
        <p:nvPicPr>
          <p:cNvPr id="5" name="Image 0" descr="ic_bullseye.png"/>
          <p:cNvPicPr>
            <a:picLocks noChangeAspect="1"/>
          </p:cNvPicPr>
          <p:nvPr/>
        </p:nvPicPr>
        <p:blipFill>
          <a:blip r:embed="rId3"/>
          <a:stretch>
            <a:fillRect/>
          </a:stretch>
        </p:blipFill>
        <p:spPr>
          <a:xfrm>
            <a:off x="9919411" y="3107131"/>
            <a:ext cx="643738" cy="643738"/>
          </a:xfrm>
          <a:prstGeom prst="rect">
            <a:avLst/>
          </a:prstGeom>
        </p:spPr>
      </p:pic>
      <p:sp>
        <p:nvSpPr>
          <p:cNvPr id="6" name="Text 3"/>
          <p:cNvSpPr txBox="1"/>
          <p:nvPr/>
        </p:nvSpPr>
        <p:spPr>
          <a:xfrm>
            <a:off x="640080" y="2331720"/>
            <a:ext cx="7315200" cy="914400"/>
          </a:xfrm>
          <a:prstGeom prst="rect">
            <a:avLst/>
          </a:prstGeom>
          <a:noFill/>
          <a:ln/>
        </p:spPr>
        <p:txBody>
          <a:bodyPr wrap="square" lIns="0" tIns="0" rIns="0" bIns="0" rtlCol="0" anchor="ctr"/>
          <a:lstStyle/>
          <a:p>
            <a:pPr marL="0" indent="0">
              <a:buNone/>
            </a:pPr>
            <a:r>
              <a:rPr lang="en-US" sz="5000" b="1" kern="0" spc="100" dirty="0">
                <a:solidFill>
                  <a:srgbClr val="FFFFFF"/>
                </a:solidFill>
                <a:latin typeface="Cambria" pitchFamily="34" charset="0"/>
                <a:ea typeface="Cambria" pitchFamily="34" charset="-122"/>
                <a:cs typeface="Cambria" pitchFamily="34" charset="-120"/>
              </a:rPr>
              <a:t>GRACIAS</a:t>
            </a:r>
            <a:endParaRPr lang="en-US" sz="5000" dirty="0"/>
          </a:p>
        </p:txBody>
      </p:sp>
      <p:sp>
        <p:nvSpPr>
          <p:cNvPr id="7" name="Shape 4"/>
          <p:cNvSpPr/>
          <p:nvPr/>
        </p:nvSpPr>
        <p:spPr>
          <a:xfrm>
            <a:off x="667512" y="3246120"/>
            <a:ext cx="1371600" cy="54864"/>
          </a:xfrm>
          <a:prstGeom prst="rect">
            <a:avLst/>
          </a:prstGeom>
          <a:solidFill>
            <a:srgbClr val="FF8A3D"/>
          </a:solidFill>
          <a:ln/>
        </p:spPr>
        <p:txBody>
          <a:bodyPr/>
          <a:lstStyle/>
          <a:p>
            <a:endParaRPr lang="es-CL"/>
          </a:p>
        </p:txBody>
      </p:sp>
      <p:sp>
        <p:nvSpPr>
          <p:cNvPr id="8" name="Text 5"/>
          <p:cNvSpPr txBox="1"/>
          <p:nvPr/>
        </p:nvSpPr>
        <p:spPr>
          <a:xfrm>
            <a:off x="640080" y="3429000"/>
            <a:ext cx="6400800" cy="45720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Preguntas y </a:t>
            </a:r>
            <a:r>
              <a:rPr lang="en-US" sz="1600" i="1" dirty="0" err="1">
                <a:solidFill>
                  <a:srgbClr val="CADCFC"/>
                </a:solidFill>
                <a:latin typeface="Calibri" pitchFamily="34" charset="0"/>
                <a:ea typeface="Calibri" pitchFamily="34" charset="-122"/>
                <a:cs typeface="Calibri" pitchFamily="34" charset="-120"/>
              </a:rPr>
              <a:t>comentarios</a:t>
            </a:r>
            <a:endParaRPr lang="en-US" sz="1600" dirty="0"/>
          </a:p>
        </p:txBody>
      </p:sp>
      <p:sp>
        <p:nvSpPr>
          <p:cNvPr id="9" name="Text 6"/>
          <p:cNvSpPr txBox="1"/>
          <p:nvPr/>
        </p:nvSpPr>
        <p:spPr>
          <a:xfrm>
            <a:off x="640080" y="4297680"/>
            <a:ext cx="45720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Jesús Rojas Gutiérrez</a:t>
            </a:r>
            <a:endParaRPr lang="en-US" sz="1250" dirty="0"/>
          </a:p>
        </p:txBody>
      </p:sp>
      <p:sp>
        <p:nvSpPr>
          <p:cNvPr id="10" name="Text 7"/>
          <p:cNvSpPr txBox="1"/>
          <p:nvPr/>
        </p:nvSpPr>
        <p:spPr>
          <a:xfrm>
            <a:off x="4297680" y="4297680"/>
            <a:ext cx="2743200" cy="2743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Backend y worker 3D</a:t>
            </a:r>
            <a:endParaRPr lang="en-US" sz="1200" dirty="0"/>
          </a:p>
        </p:txBody>
      </p:sp>
      <p:sp>
        <p:nvSpPr>
          <p:cNvPr id="11" name="Text 8"/>
          <p:cNvSpPr txBox="1"/>
          <p:nvPr/>
        </p:nvSpPr>
        <p:spPr>
          <a:xfrm>
            <a:off x="640080" y="4663440"/>
            <a:ext cx="45720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Lorna Zúñiga Aguilera</a:t>
            </a:r>
            <a:endParaRPr lang="en-US" sz="1250" dirty="0"/>
          </a:p>
        </p:txBody>
      </p:sp>
      <p:sp>
        <p:nvSpPr>
          <p:cNvPr id="12" name="Text 9"/>
          <p:cNvSpPr txBox="1"/>
          <p:nvPr/>
        </p:nvSpPr>
        <p:spPr>
          <a:xfrm>
            <a:off x="4297680" y="4663440"/>
            <a:ext cx="2743200" cy="2743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Frontend</a:t>
            </a:r>
            <a:endParaRPr lang="en-US" sz="1200" dirty="0"/>
          </a:p>
        </p:txBody>
      </p:sp>
      <p:sp>
        <p:nvSpPr>
          <p:cNvPr id="13" name="Text 10"/>
          <p:cNvSpPr txBox="1"/>
          <p:nvPr/>
        </p:nvSpPr>
        <p:spPr>
          <a:xfrm>
            <a:off x="640080" y="5029200"/>
            <a:ext cx="45720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Aldo Espinoza Daza</a:t>
            </a:r>
            <a:endParaRPr lang="en-US" sz="1250" dirty="0"/>
          </a:p>
        </p:txBody>
      </p:sp>
      <p:sp>
        <p:nvSpPr>
          <p:cNvPr id="14" name="Text 11"/>
          <p:cNvSpPr txBox="1"/>
          <p:nvPr/>
        </p:nvSpPr>
        <p:spPr>
          <a:xfrm>
            <a:off x="4297680" y="5029200"/>
            <a:ext cx="2743200" cy="2743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Base de datos e integración</a:t>
            </a:r>
            <a:endParaRPr lang="en-US" sz="1200" dirty="0"/>
          </a:p>
        </p:txBody>
      </p:sp>
      <p:sp>
        <p:nvSpPr>
          <p:cNvPr id="16" name="Text 13"/>
          <p:cNvSpPr txBox="1"/>
          <p:nvPr/>
        </p:nvSpPr>
        <p:spPr>
          <a:xfrm>
            <a:off x="457200" y="6492240"/>
            <a:ext cx="5486400" cy="274320"/>
          </a:xfrm>
          <a:prstGeom prst="rect">
            <a:avLst/>
          </a:prstGeom>
          <a:noFill/>
          <a:ln/>
        </p:spPr>
        <p:txBody>
          <a:bodyPr wrap="square" lIns="0" tIns="0" rIns="0" bIns="0" rtlCol="0" anchor="ctr"/>
          <a:lstStyle/>
          <a:p>
            <a:pPr marL="0" indent="0" algn="l">
              <a:buNone/>
            </a:pPr>
            <a:endParaRPr lang="en-US" sz="900" dirty="0"/>
          </a:p>
        </p:txBody>
      </p:sp>
      <p:sp>
        <p:nvSpPr>
          <p:cNvPr id="17" name="Text 14"/>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8891B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1483</Words>
  <Application>Microsoft Office PowerPoint</Application>
  <PresentationFormat>Panorámica</PresentationFormat>
  <Paragraphs>203</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jesus rojas</cp:lastModifiedBy>
  <cp:revision>2</cp:revision>
  <dcterms:created xsi:type="dcterms:W3CDTF">2026-09-08T14:17:59Z</dcterms:created>
  <dcterms:modified xsi:type="dcterms:W3CDTF">2026-09-12T02:12:13Z</dcterms:modified>
</cp:coreProperties>
</file>